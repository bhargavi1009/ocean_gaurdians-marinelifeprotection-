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4.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7" r:id="rId6"/>
    <p:sldId id="265" r:id="rId7"/>
    <p:sldId id="272" r:id="rId8"/>
    <p:sldId id="262" r:id="rId9"/>
    <p:sldId id="270" r:id="rId10"/>
    <p:sldId id="264" r:id="rId11"/>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8300" y="2735021"/>
            <a:ext cx="11455400" cy="1123314"/>
          </a:xfrm>
          <a:prstGeom prst="rect">
            <a:avLst/>
          </a:prstGeom>
        </p:spPr>
        <p:txBody>
          <a:bodyPr wrap="square" lIns="0" tIns="0" rIns="0" bIns="0">
            <a:spAutoFit/>
          </a:bodyPr>
          <a:lstStyle>
            <a:lvl1pPr>
              <a:defRPr sz="7200" b="1" i="0">
                <a:solidFill>
                  <a:schemeClr val="bg1"/>
                </a:solidFill>
                <a:latin typeface="Arial"/>
                <a:cs typeface="Arial"/>
              </a:defRPr>
            </a:lvl1pPr>
          </a:lstStyle>
          <a:p>
            <a:endParaRPr/>
          </a:p>
        </p:txBody>
      </p:sp>
      <p:sp>
        <p:nvSpPr>
          <p:cNvPr id="3" name="Holder 3"/>
          <p:cNvSpPr>
            <a:spLocks noGrp="1"/>
          </p:cNvSpPr>
          <p:nvPr>
            <p:ph type="body" idx="1"/>
          </p:nvPr>
        </p:nvSpPr>
        <p:spPr>
          <a:xfrm>
            <a:off x="460044" y="1760981"/>
            <a:ext cx="11271910" cy="25050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8/22/2025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85304" y="2505455"/>
            <a:ext cx="1445260" cy="1472565"/>
          </a:xfrm>
          <a:custGeom>
            <a:avLst/>
            <a:gdLst/>
            <a:ahLst/>
            <a:cxnLst/>
            <a:rect l="l" t="t" r="r" b="b"/>
            <a:pathLst>
              <a:path w="1445259" h="1472564">
                <a:moveTo>
                  <a:pt x="1444752" y="0"/>
                </a:moveTo>
                <a:lnTo>
                  <a:pt x="0" y="0"/>
                </a:lnTo>
                <a:lnTo>
                  <a:pt x="0" y="1472184"/>
                </a:lnTo>
                <a:lnTo>
                  <a:pt x="1444752" y="1472184"/>
                </a:lnTo>
                <a:lnTo>
                  <a:pt x="1444752" y="0"/>
                </a:lnTo>
                <a:close/>
              </a:path>
            </a:pathLst>
          </a:custGeom>
          <a:solidFill>
            <a:srgbClr val="A000FF"/>
          </a:solidFill>
        </p:spPr>
        <p:txBody>
          <a:bodyPr wrap="square" lIns="0" tIns="0" rIns="0" bIns="0" rtlCol="0"/>
          <a:lstStyle/>
          <a:p>
            <a:endParaRPr/>
          </a:p>
        </p:txBody>
      </p:sp>
      <p:grpSp>
        <p:nvGrpSpPr>
          <p:cNvPr id="3" name="object 3"/>
          <p:cNvGrpSpPr/>
          <p:nvPr/>
        </p:nvGrpSpPr>
        <p:grpSpPr>
          <a:xfrm>
            <a:off x="755904" y="2404872"/>
            <a:ext cx="1539240" cy="1572895"/>
            <a:chOff x="755904" y="2404872"/>
            <a:chExt cx="1539240" cy="1572895"/>
          </a:xfrm>
        </p:grpSpPr>
        <p:sp>
          <p:nvSpPr>
            <p:cNvPr id="4" name="object 4"/>
            <p:cNvSpPr/>
            <p:nvPr/>
          </p:nvSpPr>
          <p:spPr>
            <a:xfrm>
              <a:off x="853440" y="2505456"/>
              <a:ext cx="1442085" cy="1472565"/>
            </a:xfrm>
            <a:custGeom>
              <a:avLst/>
              <a:gdLst/>
              <a:ahLst/>
              <a:cxnLst/>
              <a:rect l="l" t="t" r="r" b="b"/>
              <a:pathLst>
                <a:path w="1442085" h="1472564">
                  <a:moveTo>
                    <a:pt x="1441704" y="0"/>
                  </a:moveTo>
                  <a:lnTo>
                    <a:pt x="0" y="0"/>
                  </a:lnTo>
                  <a:lnTo>
                    <a:pt x="0" y="1472184"/>
                  </a:lnTo>
                  <a:lnTo>
                    <a:pt x="1441704" y="1472184"/>
                  </a:lnTo>
                  <a:lnTo>
                    <a:pt x="1441704" y="0"/>
                  </a:lnTo>
                  <a:close/>
                </a:path>
              </a:pathLst>
            </a:custGeom>
            <a:solidFill>
              <a:srgbClr val="A000FF"/>
            </a:solidFill>
          </p:spPr>
          <p:txBody>
            <a:bodyPr wrap="square" lIns="0" tIns="0" rIns="0" bIns="0" rtlCol="0"/>
            <a:lstStyle/>
            <a:p>
              <a:endParaRPr/>
            </a:p>
          </p:txBody>
        </p:sp>
        <p:pic>
          <p:nvPicPr>
            <p:cNvPr id="5" name="object 5"/>
            <p:cNvPicPr/>
            <p:nvPr/>
          </p:nvPicPr>
          <p:blipFill>
            <a:blip r:embed="rId2" cstate="print"/>
            <a:stretch>
              <a:fillRect/>
            </a:stretch>
          </p:blipFill>
          <p:spPr>
            <a:xfrm>
              <a:off x="755904" y="2404872"/>
              <a:ext cx="1435608" cy="1472183"/>
            </a:xfrm>
            <a:prstGeom prst="rect">
              <a:avLst/>
            </a:prstGeom>
          </p:spPr>
        </p:pic>
      </p:grpSp>
      <p:sp>
        <p:nvSpPr>
          <p:cNvPr id="6" name="object 6"/>
          <p:cNvSpPr txBox="1">
            <a:spLocks noGrp="1"/>
          </p:cNvSpPr>
          <p:nvPr>
            <p:ph type="title"/>
          </p:nvPr>
        </p:nvSpPr>
        <p:spPr>
          <a:xfrm>
            <a:off x="449376" y="436321"/>
            <a:ext cx="2760980" cy="574675"/>
          </a:xfrm>
          <a:prstGeom prst="rect">
            <a:avLst/>
          </a:prstGeom>
        </p:spPr>
        <p:txBody>
          <a:bodyPr vert="horz" wrap="square" lIns="0" tIns="12700" rIns="0" bIns="0" rtlCol="0">
            <a:spAutoFit/>
          </a:bodyPr>
          <a:lstStyle/>
          <a:p>
            <a:pPr marL="12700">
              <a:lnSpc>
                <a:spcPct val="100000"/>
              </a:lnSpc>
              <a:spcBef>
                <a:spcPts val="100"/>
              </a:spcBef>
            </a:pPr>
            <a:r>
              <a:rPr sz="3600" spc="-75" dirty="0">
                <a:solidFill>
                  <a:srgbClr val="000000"/>
                </a:solidFill>
              </a:rPr>
              <a:t>Team</a:t>
            </a:r>
            <a:r>
              <a:rPr sz="3600" spc="-50" dirty="0">
                <a:solidFill>
                  <a:srgbClr val="000000"/>
                </a:solidFill>
              </a:rPr>
              <a:t> </a:t>
            </a:r>
            <a:r>
              <a:rPr sz="3600" spc="-5" dirty="0">
                <a:solidFill>
                  <a:srgbClr val="000000"/>
                </a:solidFill>
              </a:rPr>
              <a:t>details</a:t>
            </a:r>
            <a:endParaRPr sz="3600"/>
          </a:p>
        </p:txBody>
      </p:sp>
      <p:sp>
        <p:nvSpPr>
          <p:cNvPr id="7" name="object 7"/>
          <p:cNvSpPr/>
          <p:nvPr/>
        </p:nvSpPr>
        <p:spPr>
          <a:xfrm>
            <a:off x="11601831" y="6589966"/>
            <a:ext cx="47625" cy="73660"/>
          </a:xfrm>
          <a:custGeom>
            <a:avLst/>
            <a:gdLst/>
            <a:ahLst/>
            <a:cxnLst/>
            <a:rect l="l" t="t" r="r" b="b"/>
            <a:pathLst>
              <a:path w="47625" h="73659">
                <a:moveTo>
                  <a:pt x="26543" y="0"/>
                </a:moveTo>
                <a:lnTo>
                  <a:pt x="16891" y="0"/>
                </a:lnTo>
                <a:lnTo>
                  <a:pt x="12065" y="1638"/>
                </a:lnTo>
                <a:lnTo>
                  <a:pt x="4445" y="8153"/>
                </a:lnTo>
                <a:lnTo>
                  <a:pt x="2032" y="12738"/>
                </a:lnTo>
                <a:lnTo>
                  <a:pt x="889" y="18669"/>
                </a:lnTo>
                <a:lnTo>
                  <a:pt x="9778" y="20243"/>
                </a:lnTo>
                <a:lnTo>
                  <a:pt x="10414" y="15913"/>
                </a:lnTo>
                <a:lnTo>
                  <a:pt x="11938" y="12674"/>
                </a:lnTo>
                <a:lnTo>
                  <a:pt x="16510" y="8356"/>
                </a:lnTo>
                <a:lnTo>
                  <a:pt x="19303" y="7277"/>
                </a:lnTo>
                <a:lnTo>
                  <a:pt x="26289" y="7277"/>
                </a:lnTo>
                <a:lnTo>
                  <a:pt x="29083" y="8331"/>
                </a:lnTo>
                <a:lnTo>
                  <a:pt x="33400" y="12598"/>
                </a:lnTo>
                <a:lnTo>
                  <a:pt x="34544" y="15278"/>
                </a:lnTo>
                <a:lnTo>
                  <a:pt x="34544" y="22606"/>
                </a:lnTo>
                <a:lnTo>
                  <a:pt x="33020" y="25641"/>
                </a:lnTo>
                <a:lnTo>
                  <a:pt x="27050" y="29565"/>
                </a:lnTo>
                <a:lnTo>
                  <a:pt x="23622" y="30556"/>
                </a:lnTo>
                <a:lnTo>
                  <a:pt x="18415" y="30454"/>
                </a:lnTo>
                <a:lnTo>
                  <a:pt x="17525" y="38214"/>
                </a:lnTo>
                <a:lnTo>
                  <a:pt x="19939" y="37553"/>
                </a:lnTo>
                <a:lnTo>
                  <a:pt x="22098" y="37236"/>
                </a:lnTo>
                <a:lnTo>
                  <a:pt x="27813" y="37236"/>
                </a:lnTo>
                <a:lnTo>
                  <a:pt x="31115" y="38544"/>
                </a:lnTo>
                <a:lnTo>
                  <a:pt x="36449" y="43815"/>
                </a:lnTo>
                <a:lnTo>
                  <a:pt x="37846" y="47167"/>
                </a:lnTo>
                <a:lnTo>
                  <a:pt x="37846" y="55486"/>
                </a:lnTo>
                <a:lnTo>
                  <a:pt x="36322" y="59055"/>
                </a:lnTo>
                <a:lnTo>
                  <a:pt x="30607" y="64820"/>
                </a:lnTo>
                <a:lnTo>
                  <a:pt x="27177" y="66255"/>
                </a:lnTo>
                <a:lnTo>
                  <a:pt x="19430" y="66255"/>
                </a:lnTo>
                <a:lnTo>
                  <a:pt x="16510" y="65151"/>
                </a:lnTo>
                <a:lnTo>
                  <a:pt x="11557" y="60731"/>
                </a:lnTo>
                <a:lnTo>
                  <a:pt x="9905" y="57124"/>
                </a:lnTo>
                <a:lnTo>
                  <a:pt x="8890" y="52108"/>
                </a:lnTo>
                <a:lnTo>
                  <a:pt x="0" y="53289"/>
                </a:lnTo>
                <a:lnTo>
                  <a:pt x="635" y="59283"/>
                </a:lnTo>
                <a:lnTo>
                  <a:pt x="3048" y="64160"/>
                </a:lnTo>
                <a:lnTo>
                  <a:pt x="11302" y="71691"/>
                </a:lnTo>
                <a:lnTo>
                  <a:pt x="16637" y="73571"/>
                </a:lnTo>
                <a:lnTo>
                  <a:pt x="29972" y="73571"/>
                </a:lnTo>
                <a:lnTo>
                  <a:pt x="35687" y="71386"/>
                </a:lnTo>
                <a:lnTo>
                  <a:pt x="44830" y="62649"/>
                </a:lnTo>
                <a:lnTo>
                  <a:pt x="47244" y="57315"/>
                </a:lnTo>
                <a:lnTo>
                  <a:pt x="47244" y="46380"/>
                </a:lnTo>
                <a:lnTo>
                  <a:pt x="45974" y="42506"/>
                </a:lnTo>
                <a:lnTo>
                  <a:pt x="41275" y="36322"/>
                </a:lnTo>
                <a:lnTo>
                  <a:pt x="37973" y="34290"/>
                </a:lnTo>
                <a:lnTo>
                  <a:pt x="33782" y="33299"/>
                </a:lnTo>
                <a:lnTo>
                  <a:pt x="36957" y="31800"/>
                </a:lnTo>
                <a:lnTo>
                  <a:pt x="39497" y="29768"/>
                </a:lnTo>
                <a:lnTo>
                  <a:pt x="42799" y="24663"/>
                </a:lnTo>
                <a:lnTo>
                  <a:pt x="43688" y="21831"/>
                </a:lnTo>
                <a:lnTo>
                  <a:pt x="43688" y="15443"/>
                </a:lnTo>
                <a:lnTo>
                  <a:pt x="42799" y="12344"/>
                </a:lnTo>
                <a:lnTo>
                  <a:pt x="39243" y="6515"/>
                </a:lnTo>
                <a:lnTo>
                  <a:pt x="36702" y="4216"/>
                </a:lnTo>
                <a:lnTo>
                  <a:pt x="30099" y="850"/>
                </a:lnTo>
                <a:lnTo>
                  <a:pt x="26543" y="0"/>
                </a:lnTo>
                <a:close/>
              </a:path>
            </a:pathLst>
          </a:custGeom>
          <a:solidFill>
            <a:srgbClr val="000000">
              <a:alpha val="39999"/>
            </a:srgbClr>
          </a:solidFill>
        </p:spPr>
        <p:txBody>
          <a:bodyPr wrap="square" lIns="0" tIns="0" rIns="0" bIns="0" rtlCol="0"/>
          <a:lstStyle/>
          <a:p>
            <a:endParaRPr/>
          </a:p>
        </p:txBody>
      </p:sp>
      <p:graphicFrame>
        <p:nvGraphicFramePr>
          <p:cNvPr id="8" name="object 8"/>
          <p:cNvGraphicFramePr>
            <a:graphicFrameLocks noGrp="1"/>
          </p:cNvGraphicFramePr>
          <p:nvPr>
            <p:extLst>
              <p:ext uri="{D42A27DB-BD31-4B8C-83A1-F6EECF244321}">
                <p14:modId xmlns:p14="http://schemas.microsoft.com/office/powerpoint/2010/main" val="4001813945"/>
              </p:ext>
            </p:extLst>
          </p:nvPr>
        </p:nvGraphicFramePr>
        <p:xfrm>
          <a:off x="458736" y="1169797"/>
          <a:ext cx="11617325" cy="4997069"/>
        </p:xfrm>
        <a:graphic>
          <a:graphicData uri="http://schemas.openxmlformats.org/drawingml/2006/table">
            <a:tbl>
              <a:tblPr firstRow="1" bandRow="1">
                <a:tableStyleId>{2D5ABB26-0587-4C30-8999-92F81FD0307C}</a:tableStyleId>
              </a:tblPr>
              <a:tblGrid>
                <a:gridCol w="4382135">
                  <a:extLst>
                    <a:ext uri="{9D8B030D-6E8A-4147-A177-3AD203B41FA5}">
                      <a16:colId xmlns:a16="http://schemas.microsoft.com/office/drawing/2014/main" val="20000"/>
                    </a:ext>
                  </a:extLst>
                </a:gridCol>
                <a:gridCol w="1251585">
                  <a:extLst>
                    <a:ext uri="{9D8B030D-6E8A-4147-A177-3AD203B41FA5}">
                      <a16:colId xmlns:a16="http://schemas.microsoft.com/office/drawing/2014/main" val="20001"/>
                    </a:ext>
                  </a:extLst>
                </a:gridCol>
                <a:gridCol w="5983605">
                  <a:extLst>
                    <a:ext uri="{9D8B030D-6E8A-4147-A177-3AD203B41FA5}">
                      <a16:colId xmlns:a16="http://schemas.microsoft.com/office/drawing/2014/main" val="20002"/>
                    </a:ext>
                  </a:extLst>
                </a:gridCol>
              </a:tblGrid>
              <a:tr h="378460">
                <a:tc>
                  <a:txBody>
                    <a:bodyPr/>
                    <a:lstStyle/>
                    <a:p>
                      <a:pPr marL="91440">
                        <a:lnSpc>
                          <a:spcPct val="100000"/>
                        </a:lnSpc>
                        <a:spcBef>
                          <a:spcPts val="334"/>
                        </a:spcBef>
                      </a:pPr>
                      <a:r>
                        <a:rPr sz="1400" b="1" spc="-15" dirty="0">
                          <a:solidFill>
                            <a:srgbClr val="A000FF"/>
                          </a:solidFill>
                          <a:latin typeface="Arial"/>
                          <a:cs typeface="Arial"/>
                        </a:rPr>
                        <a:t>TEAM</a:t>
                      </a:r>
                      <a:r>
                        <a:rPr sz="1400" b="1" spc="-10" dirty="0">
                          <a:solidFill>
                            <a:srgbClr val="A000FF"/>
                          </a:solidFill>
                          <a:latin typeface="Arial"/>
                          <a:cs typeface="Arial"/>
                        </a:rPr>
                        <a:t> NAME:</a:t>
                      </a:r>
                      <a:r>
                        <a:rPr lang="en-IN" sz="1400" b="1" spc="-10" dirty="0">
                          <a:solidFill>
                            <a:srgbClr val="A000FF"/>
                          </a:solidFill>
                          <a:latin typeface="Arial"/>
                          <a:cs typeface="Arial"/>
                        </a:rPr>
                        <a:t> WARRIORS</a:t>
                      </a:r>
                      <a:endParaRPr sz="1400" dirty="0">
                        <a:latin typeface="Arial"/>
                        <a:cs typeface="Arial"/>
                      </a:endParaRPr>
                    </a:p>
                  </a:txBody>
                  <a:tcPr marL="0" marR="0" marT="42544" marB="0">
                    <a:lnL w="6350">
                      <a:solidFill>
                        <a:srgbClr val="E6BEFF"/>
                      </a:solidFill>
                      <a:prstDash val="solid"/>
                    </a:lnL>
                    <a:lnR w="6350">
                      <a:solidFill>
                        <a:srgbClr val="EBCCFF"/>
                      </a:solidFill>
                      <a:prstDash val="solid"/>
                    </a:lnR>
                    <a:lnT w="6350">
                      <a:solidFill>
                        <a:srgbClr val="E6BEFF"/>
                      </a:solidFill>
                      <a:prstDash val="solid"/>
                    </a:lnT>
                    <a:lnB w="6350">
                      <a:solidFill>
                        <a:srgbClr val="EBCCFF"/>
                      </a:solidFill>
                      <a:prstDash val="solid"/>
                    </a:lnB>
                    <a:solidFill>
                      <a:srgbClr val="EAEAEA"/>
                    </a:solidFill>
                  </a:tcPr>
                </a:tc>
                <a:tc gridSpan="2">
                  <a:txBody>
                    <a:bodyPr/>
                    <a:lstStyle/>
                    <a:p>
                      <a:pPr>
                        <a:lnSpc>
                          <a:spcPct val="100000"/>
                        </a:lnSpc>
                      </a:pPr>
                      <a:endParaRPr sz="1600">
                        <a:latin typeface="Times New Roman"/>
                        <a:cs typeface="Times New Roman"/>
                      </a:endParaRPr>
                    </a:p>
                  </a:txBody>
                  <a:tcPr marL="0" marR="0" marT="0" marB="0">
                    <a:lnL w="6350">
                      <a:solidFill>
                        <a:srgbClr val="EBCCFF"/>
                      </a:solidFill>
                      <a:prstDash val="solid"/>
                    </a:lnL>
                    <a:lnR w="6350">
                      <a:solidFill>
                        <a:srgbClr val="E6BEFF"/>
                      </a:solidFill>
                      <a:prstDash val="solid"/>
                    </a:lnR>
                    <a:lnT w="6350">
                      <a:solidFill>
                        <a:srgbClr val="E6BEFF"/>
                      </a:solidFill>
                      <a:prstDash val="solid"/>
                    </a:lnT>
                    <a:lnB w="6350">
                      <a:solidFill>
                        <a:srgbClr val="D4D4D4"/>
                      </a:solidFill>
                      <a:prstDash val="solid"/>
                    </a:lnB>
                    <a:solidFill>
                      <a:srgbClr val="EAEAEA"/>
                    </a:solidFill>
                  </a:tcPr>
                </a:tc>
                <a:tc hMerge="1">
                  <a:txBody>
                    <a:bodyPr/>
                    <a:lstStyle/>
                    <a:p>
                      <a:endParaRPr/>
                    </a:p>
                  </a:txBody>
                  <a:tcPr marL="0" marR="0" marT="0" marB="0"/>
                </a:tc>
                <a:extLst>
                  <a:ext uri="{0D108BD9-81ED-4DB2-BD59-A6C34878D82A}">
                    <a16:rowId xmlns:a16="http://schemas.microsoft.com/office/drawing/2014/main" val="10000"/>
                  </a:ext>
                </a:extLst>
              </a:tr>
              <a:tr h="4493247">
                <a:tc gridSpan="2">
                  <a:txBody>
                    <a:bodyPr/>
                    <a:lstStyle/>
                    <a:p>
                      <a:pPr>
                        <a:lnSpc>
                          <a:spcPct val="100000"/>
                        </a:lnSpc>
                      </a:pPr>
                      <a:endParaRPr sz="3700" dirty="0">
                        <a:latin typeface="Times New Roman"/>
                        <a:cs typeface="Times New Roman"/>
                      </a:endParaRPr>
                    </a:p>
                    <a:p>
                      <a:pPr marL="2176145" marR="982980">
                        <a:lnSpc>
                          <a:spcPts val="3170"/>
                        </a:lnSpc>
                      </a:pPr>
                      <a:r>
                        <a:rPr lang="en-IN" sz="1200" b="1" spc="10" dirty="0">
                          <a:solidFill>
                            <a:srgbClr val="A000FF"/>
                          </a:solidFill>
                          <a:latin typeface="Arial"/>
                          <a:cs typeface="Arial"/>
                        </a:rPr>
                        <a:t>Alapati Hema Latha</a:t>
                      </a:r>
                      <a:r>
                        <a:rPr sz="1200" b="1" spc="-130" dirty="0">
                          <a:solidFill>
                            <a:srgbClr val="A000FF"/>
                          </a:solidFill>
                          <a:latin typeface="Arial"/>
                          <a:cs typeface="Arial"/>
                        </a:rPr>
                        <a:t> </a:t>
                      </a:r>
                      <a:r>
                        <a:rPr sz="1200" b="1" spc="-45" dirty="0">
                          <a:solidFill>
                            <a:srgbClr val="A000FF"/>
                          </a:solidFill>
                          <a:latin typeface="Arial"/>
                          <a:cs typeface="Arial"/>
                        </a:rPr>
                        <a:t>(Team </a:t>
                      </a:r>
                      <a:r>
                        <a:rPr sz="1200" b="1" spc="-900" dirty="0">
                          <a:solidFill>
                            <a:srgbClr val="A000FF"/>
                          </a:solidFill>
                          <a:latin typeface="Arial"/>
                          <a:cs typeface="Arial"/>
                        </a:rPr>
                        <a:t> </a:t>
                      </a:r>
                      <a:r>
                        <a:rPr sz="1200" b="1" spc="5" dirty="0">
                          <a:solidFill>
                            <a:srgbClr val="A000FF"/>
                          </a:solidFill>
                          <a:latin typeface="Arial"/>
                          <a:cs typeface="Arial"/>
                        </a:rPr>
                        <a:t>Leader)</a:t>
                      </a:r>
                      <a:endParaRPr lang="en-IN" sz="1200" b="1" spc="5" dirty="0">
                        <a:solidFill>
                          <a:srgbClr val="A000FF"/>
                        </a:solidFill>
                        <a:latin typeface="Arial"/>
                        <a:cs typeface="Arial"/>
                      </a:endParaRPr>
                    </a:p>
                    <a:p>
                      <a:pPr marL="2176145" marR="982980">
                        <a:lnSpc>
                          <a:spcPts val="3170"/>
                        </a:lnSpc>
                      </a:pPr>
                      <a:endParaRPr lang="en-IN" sz="1200" b="1" spc="5" dirty="0">
                        <a:solidFill>
                          <a:srgbClr val="A000FF"/>
                        </a:solidFill>
                        <a:latin typeface="Arial"/>
                        <a:cs typeface="Arial"/>
                      </a:endParaRPr>
                    </a:p>
                    <a:p>
                      <a:pPr marL="2176145" marR="982980">
                        <a:lnSpc>
                          <a:spcPct val="200000"/>
                        </a:lnSpc>
                      </a:pPr>
                      <a:r>
                        <a:rPr lang="en-IN" sz="1200" b="0" spc="5" dirty="0">
                          <a:solidFill>
                            <a:schemeClr val="tx1"/>
                          </a:solidFill>
                          <a:latin typeface="Arial"/>
                          <a:cs typeface="Arial"/>
                        </a:rPr>
                        <a:t>College: Vel Tech Rangarajan Dr. Sagunthala R&amp;D Institute of Science and Technology</a:t>
                      </a:r>
                    </a:p>
                    <a:p>
                      <a:pPr marL="2176145" marR="982980">
                        <a:lnSpc>
                          <a:spcPct val="200000"/>
                        </a:lnSpc>
                      </a:pPr>
                      <a:r>
                        <a:rPr lang="en-IN" sz="1200" b="0" spc="5" dirty="0">
                          <a:solidFill>
                            <a:schemeClr val="tx1"/>
                          </a:solidFill>
                          <a:latin typeface="Arial"/>
                          <a:cs typeface="Arial"/>
                        </a:rPr>
                        <a:t>Stream: B.Tech CSE</a:t>
                      </a:r>
                    </a:p>
                    <a:p>
                      <a:pPr marL="2176145" marR="982980">
                        <a:lnSpc>
                          <a:spcPct val="200000"/>
                        </a:lnSpc>
                      </a:pPr>
                      <a:r>
                        <a:rPr lang="en-IN" sz="1200" b="0" spc="5" dirty="0">
                          <a:solidFill>
                            <a:schemeClr val="tx1"/>
                          </a:solidFill>
                          <a:latin typeface="Arial"/>
                          <a:cs typeface="Arial"/>
                        </a:rPr>
                        <a:t>Year of graduation:2026</a:t>
                      </a:r>
                      <a:endParaRPr sz="1200" b="0" dirty="0">
                        <a:solidFill>
                          <a:schemeClr val="tx1"/>
                        </a:solidFill>
                        <a:latin typeface="Arial"/>
                        <a:cs typeface="Arial"/>
                      </a:endParaRPr>
                    </a:p>
                    <a:p>
                      <a:pPr>
                        <a:lnSpc>
                          <a:spcPct val="100000"/>
                        </a:lnSpc>
                      </a:pPr>
                      <a:endParaRPr sz="1300" dirty="0">
                        <a:latin typeface="Times New Roman"/>
                        <a:cs typeface="Times New Roman"/>
                      </a:endParaRPr>
                    </a:p>
                    <a:p>
                      <a:pPr>
                        <a:lnSpc>
                          <a:spcPct val="100000"/>
                        </a:lnSpc>
                      </a:pPr>
                      <a:endParaRPr lang="en-IN" sz="130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45"/>
                        </a:spcBef>
                      </a:pPr>
                      <a:endParaRPr sz="1000" dirty="0">
                        <a:latin typeface="Times New Roman"/>
                        <a:cs typeface="Times New Roman"/>
                      </a:endParaRPr>
                    </a:p>
                    <a:p>
                      <a:pPr marL="2267585" marR="2795270" indent="-1323340">
                        <a:lnSpc>
                          <a:spcPct val="92300"/>
                        </a:lnSpc>
                        <a:spcBef>
                          <a:spcPts val="1745"/>
                        </a:spcBef>
                        <a:tabLst>
                          <a:tab pos="2267585" algn="l"/>
                        </a:tabLst>
                      </a:pPr>
                      <a:r>
                        <a:rPr sz="2700" baseline="23148" dirty="0">
                          <a:solidFill>
                            <a:srgbClr val="FFFFFF"/>
                          </a:solidFill>
                          <a:latin typeface="Arial MT"/>
                          <a:cs typeface="Arial MT"/>
                        </a:rPr>
                        <a:t>P</a:t>
                      </a:r>
                      <a:r>
                        <a:rPr sz="2700" spc="7" baseline="23148" dirty="0">
                          <a:solidFill>
                            <a:srgbClr val="FFFFFF"/>
                          </a:solidFill>
                          <a:latin typeface="Arial MT"/>
                          <a:cs typeface="Arial MT"/>
                        </a:rPr>
                        <a:t>ho</a:t>
                      </a:r>
                      <a:r>
                        <a:rPr sz="2700" baseline="23148" dirty="0">
                          <a:solidFill>
                            <a:srgbClr val="FFFFFF"/>
                          </a:solidFill>
                          <a:latin typeface="Arial MT"/>
                          <a:cs typeface="Arial MT"/>
                        </a:rPr>
                        <a:t>to	</a:t>
                      </a:r>
                      <a:r>
                        <a:rPr sz="1200" dirty="0">
                          <a:latin typeface="Arial MT"/>
                          <a:cs typeface="Arial MT"/>
                        </a:rPr>
                        <a:t>:</a:t>
                      </a:r>
                    </a:p>
                  </a:txBody>
                  <a:tcPr marL="0" marR="0" marT="0" marB="0">
                    <a:lnR w="6350">
                      <a:solidFill>
                        <a:srgbClr val="A112FF"/>
                      </a:solidFill>
                      <a:prstDash val="solid"/>
                    </a:lnR>
                    <a:lnT w="6350" cap="flat" cmpd="sng" algn="ctr">
                      <a:solidFill>
                        <a:srgbClr val="EBCCFF"/>
                      </a:solidFill>
                      <a:prstDash val="solid"/>
                      <a:round/>
                      <a:headEnd type="none" w="med" len="med"/>
                      <a:tailEnd type="none" w="med" len="med"/>
                    </a:lnT>
                  </a:tcPr>
                </a:tc>
                <a:tc hMerge="1">
                  <a:txBody>
                    <a:bodyPr/>
                    <a:lstStyle/>
                    <a:p>
                      <a:endParaRPr/>
                    </a:p>
                  </a:txBody>
                  <a:tcPr marL="0" marR="0" marT="0" marB="0"/>
                </a:tc>
                <a:tc>
                  <a:txBody>
                    <a:bodyPr/>
                    <a:lstStyle/>
                    <a:p>
                      <a:pPr marL="3071495">
                        <a:lnSpc>
                          <a:spcPct val="100000"/>
                        </a:lnSpc>
                      </a:pPr>
                      <a:endParaRPr lang="en-IN" sz="5450" b="0" spc="0" dirty="0">
                        <a:solidFill>
                          <a:schemeClr val="tx1"/>
                        </a:solidFill>
                        <a:latin typeface="Times New Roman"/>
                        <a:cs typeface="Times New Roman"/>
                      </a:endParaRPr>
                    </a:p>
                    <a:p>
                      <a:pPr marL="3071495">
                        <a:lnSpc>
                          <a:spcPct val="100000"/>
                        </a:lnSpc>
                      </a:pPr>
                      <a:r>
                        <a:rPr lang="en-IN" sz="1200" b="1" spc="-5" dirty="0">
                          <a:solidFill>
                            <a:srgbClr val="A000FF"/>
                          </a:solidFill>
                          <a:latin typeface="Arial"/>
                          <a:cs typeface="Arial"/>
                        </a:rPr>
                        <a:t>Marthala Bhargavi</a:t>
                      </a:r>
                    </a:p>
                    <a:p>
                      <a:pPr marL="3071495">
                        <a:lnSpc>
                          <a:spcPct val="100000"/>
                        </a:lnSpc>
                      </a:pPr>
                      <a:endParaRPr lang="en-IN" sz="1200" b="1" spc="-5" dirty="0">
                        <a:solidFill>
                          <a:srgbClr val="A000FF"/>
                        </a:solidFill>
                        <a:latin typeface="Arial"/>
                        <a:cs typeface="Arial"/>
                      </a:endParaRPr>
                    </a:p>
                    <a:p>
                      <a:pPr marL="3071495">
                        <a:lnSpc>
                          <a:spcPct val="100000"/>
                        </a:lnSpc>
                      </a:pPr>
                      <a:endParaRPr lang="en-IN" sz="1200" b="1" spc="-5" dirty="0">
                        <a:solidFill>
                          <a:srgbClr val="A000FF"/>
                        </a:solidFill>
                        <a:latin typeface="Arial"/>
                        <a:cs typeface="Arial"/>
                      </a:endParaRPr>
                    </a:p>
                    <a:p>
                      <a:pPr marL="3071495">
                        <a:lnSpc>
                          <a:spcPct val="100000"/>
                        </a:lnSpc>
                      </a:pPr>
                      <a:endParaRPr lang="en-IN" sz="1200" b="1" spc="-5" dirty="0">
                        <a:solidFill>
                          <a:srgbClr val="A000FF"/>
                        </a:solidFill>
                        <a:latin typeface="Arial"/>
                        <a:cs typeface="Arial"/>
                      </a:endParaRPr>
                    </a:p>
                    <a:p>
                      <a:pPr marL="3071495">
                        <a:lnSpc>
                          <a:spcPct val="200000"/>
                        </a:lnSpc>
                      </a:pPr>
                      <a:r>
                        <a:rPr lang="en-IN" sz="1200" b="0" spc="-5" dirty="0">
                          <a:solidFill>
                            <a:schemeClr val="tx1"/>
                          </a:solidFill>
                          <a:latin typeface="Arial"/>
                          <a:cs typeface="Arial"/>
                        </a:rPr>
                        <a:t>College:</a:t>
                      </a:r>
                      <a:r>
                        <a:rPr lang="en-US" sz="1200" b="0" spc="5" dirty="0">
                          <a:solidFill>
                            <a:schemeClr val="tx1"/>
                          </a:solidFill>
                          <a:latin typeface="Arial"/>
                          <a:cs typeface="Arial"/>
                        </a:rPr>
                        <a:t>Vel Tech Rangarajan Dr. Sagunthala R&amp;D Institute of Science and Technology</a:t>
                      </a:r>
                    </a:p>
                    <a:p>
                      <a:pPr marL="3071495">
                        <a:lnSpc>
                          <a:spcPct val="200000"/>
                        </a:lnSpc>
                      </a:pPr>
                      <a:r>
                        <a:rPr lang="en-US" sz="1200" b="0" spc="5" dirty="0">
                          <a:solidFill>
                            <a:schemeClr val="tx1"/>
                          </a:solidFill>
                          <a:latin typeface="Arial"/>
                          <a:cs typeface="Arial"/>
                        </a:rPr>
                        <a:t>Stream: B.Tech CSE</a:t>
                      </a:r>
                    </a:p>
                    <a:p>
                      <a:pPr marL="3071495">
                        <a:lnSpc>
                          <a:spcPct val="200000"/>
                        </a:lnSpc>
                      </a:pPr>
                      <a:r>
                        <a:rPr lang="en-US" sz="1200" b="0" spc="5" dirty="0">
                          <a:solidFill>
                            <a:schemeClr val="tx1"/>
                          </a:solidFill>
                          <a:latin typeface="Arial"/>
                          <a:cs typeface="Arial"/>
                        </a:rPr>
                        <a:t>Year of graduation:2026</a:t>
                      </a:r>
                      <a:endParaRPr lang="en-US" sz="1200" b="0" dirty="0">
                        <a:solidFill>
                          <a:schemeClr val="tx1"/>
                        </a:solidFill>
                        <a:latin typeface="Arial"/>
                        <a:cs typeface="Arial"/>
                      </a:endParaRPr>
                    </a:p>
                    <a:p>
                      <a:pPr marL="3071495" algn="r">
                        <a:lnSpc>
                          <a:spcPct val="100000"/>
                        </a:lnSpc>
                      </a:pPr>
                      <a:endParaRPr sz="1200" dirty="0">
                        <a:latin typeface="Arial"/>
                        <a:cs typeface="Arial"/>
                      </a:endParaRPr>
                    </a:p>
                  </a:txBody>
                  <a:tcPr marL="0" marR="0" marT="3175" marB="0">
                    <a:lnL w="6350">
                      <a:solidFill>
                        <a:srgbClr val="A112FF"/>
                      </a:solidFill>
                      <a:prstDash val="solid"/>
                    </a:lnL>
                    <a:lnT w="6350">
                      <a:solidFill>
                        <a:srgbClr val="D4D4D4"/>
                      </a:solidFill>
                      <a:prstDash val="solid"/>
                    </a:lnT>
                  </a:tcPr>
                </a:tc>
                <a:extLst>
                  <a:ext uri="{0D108BD9-81ED-4DB2-BD59-A6C34878D82A}">
                    <a16:rowId xmlns:a16="http://schemas.microsoft.com/office/drawing/2014/main" val="10001"/>
                  </a:ext>
                </a:extLst>
              </a:tr>
            </a:tbl>
          </a:graphicData>
        </a:graphic>
      </p:graphicFrame>
      <p:sp>
        <p:nvSpPr>
          <p:cNvPr id="11" name="object 11"/>
          <p:cNvSpPr/>
          <p:nvPr/>
        </p:nvSpPr>
        <p:spPr>
          <a:xfrm>
            <a:off x="2624327" y="3011423"/>
            <a:ext cx="1718310" cy="0"/>
          </a:xfrm>
          <a:custGeom>
            <a:avLst/>
            <a:gdLst/>
            <a:ahLst/>
            <a:cxnLst/>
            <a:rect l="l" t="t" r="r" b="b"/>
            <a:pathLst>
              <a:path w="1718310">
                <a:moveTo>
                  <a:pt x="0" y="0"/>
                </a:moveTo>
                <a:lnTo>
                  <a:pt x="1718056" y="0"/>
                </a:lnTo>
              </a:path>
            </a:pathLst>
          </a:custGeom>
          <a:ln w="6096">
            <a:solidFill>
              <a:srgbClr val="A112FF"/>
            </a:solidFill>
          </a:ln>
        </p:spPr>
        <p:txBody>
          <a:bodyPr wrap="square" lIns="0" tIns="0" rIns="0" bIns="0" rtlCol="0"/>
          <a:lstStyle/>
          <a:p>
            <a:endParaRPr/>
          </a:p>
        </p:txBody>
      </p:sp>
      <p:pic>
        <p:nvPicPr>
          <p:cNvPr id="13" name="object 13"/>
          <p:cNvPicPr/>
          <p:nvPr/>
        </p:nvPicPr>
        <p:blipFill>
          <a:blip r:embed="rId3" cstate="print">
            <a:extLst>
              <a:ext uri="{28A0092B-C50C-407E-A947-70E740481C1C}">
                <a14:useLocalDpi xmlns:a14="http://schemas.microsoft.com/office/drawing/2010/main" val="0"/>
              </a:ext>
            </a:extLst>
          </a:blip>
          <a:srcRect/>
          <a:stretch/>
        </p:blipFill>
        <p:spPr>
          <a:xfrm>
            <a:off x="7422247" y="2404872"/>
            <a:ext cx="1157503" cy="1472183"/>
          </a:xfrm>
          <a:prstGeom prst="rect">
            <a:avLst/>
          </a:prstGeom>
        </p:spPr>
      </p:pic>
      <p:sp>
        <p:nvSpPr>
          <p:cNvPr id="14" name="object 14"/>
          <p:cNvSpPr/>
          <p:nvPr/>
        </p:nvSpPr>
        <p:spPr>
          <a:xfrm>
            <a:off x="9150095" y="3011423"/>
            <a:ext cx="1718310" cy="0"/>
          </a:xfrm>
          <a:custGeom>
            <a:avLst/>
            <a:gdLst/>
            <a:ahLst/>
            <a:cxnLst/>
            <a:rect l="l" t="t" r="r" b="b"/>
            <a:pathLst>
              <a:path w="1718309">
                <a:moveTo>
                  <a:pt x="0" y="0"/>
                </a:moveTo>
                <a:lnTo>
                  <a:pt x="1718055" y="0"/>
                </a:lnTo>
              </a:path>
            </a:pathLst>
          </a:custGeom>
          <a:ln w="6096">
            <a:solidFill>
              <a:srgbClr val="A112FF"/>
            </a:solidFill>
          </a:ln>
        </p:spPr>
        <p:txBody>
          <a:bodyPr wrap="square" lIns="0" tIns="0" rIns="0" bIns="0" rtlCol="0"/>
          <a:lstStyle/>
          <a:p>
            <a:endParaRPr/>
          </a:p>
        </p:txBody>
      </p:sp>
      <p:pic>
        <p:nvPicPr>
          <p:cNvPr id="16" name="Picture 15">
            <a:extLst>
              <a:ext uri="{FF2B5EF4-FFF2-40B4-BE49-F238E27FC236}">
                <a16:creationId xmlns:a16="http://schemas.microsoft.com/office/drawing/2014/main" id="{210A059E-9CA2-8659-407D-EBA8B541AD57}"/>
              </a:ext>
            </a:extLst>
          </p:cNvPr>
          <p:cNvPicPr>
            <a:picLocks noChangeAspect="1"/>
          </p:cNvPicPr>
          <p:nvPr/>
        </p:nvPicPr>
        <p:blipFill>
          <a:blip r:embed="rId4"/>
          <a:stretch>
            <a:fillRect/>
          </a:stretch>
        </p:blipFill>
        <p:spPr>
          <a:xfrm>
            <a:off x="755903" y="2404872"/>
            <a:ext cx="1435607" cy="14725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33887" y="381000"/>
            <a:ext cx="11280775" cy="698500"/>
          </a:xfrm>
          <a:custGeom>
            <a:avLst/>
            <a:gdLst/>
            <a:ahLst/>
            <a:cxnLst/>
            <a:rect l="l" t="t" r="r" b="b"/>
            <a:pathLst>
              <a:path w="11280775" h="698500">
                <a:moveTo>
                  <a:pt x="11280648" y="0"/>
                </a:moveTo>
                <a:lnTo>
                  <a:pt x="0" y="0"/>
                </a:lnTo>
                <a:lnTo>
                  <a:pt x="0" y="697991"/>
                </a:lnTo>
                <a:lnTo>
                  <a:pt x="11280648" y="697991"/>
                </a:lnTo>
                <a:lnTo>
                  <a:pt x="11280648" y="0"/>
                </a:lnTo>
                <a:close/>
              </a:path>
            </a:pathLst>
          </a:custGeom>
          <a:solidFill>
            <a:srgbClr val="A000FF"/>
          </a:solidFill>
        </p:spPr>
        <p:txBody>
          <a:bodyPr wrap="square" lIns="0" tIns="0" rIns="0" bIns="0" rtlCol="0"/>
          <a:lstStyle/>
          <a:p>
            <a:r>
              <a:rPr lang="en-IN" sz="2800" dirty="0">
                <a:solidFill>
                  <a:schemeClr val="bg1"/>
                </a:solidFill>
                <a:latin typeface="Arial" panose="020B0604020202020204" pitchFamily="34" charset="0"/>
                <a:cs typeface="Arial" panose="020B0604020202020204" pitchFamily="34" charset="0"/>
              </a:rPr>
              <a:t>Problem Statement</a:t>
            </a:r>
            <a:endParaRPr sz="2800" dirty="0">
              <a:solidFill>
                <a:schemeClr val="bg1"/>
              </a:solidFill>
              <a:latin typeface="Arial" panose="020B0604020202020204" pitchFamily="34" charset="0"/>
              <a:cs typeface="Arial" panose="020B0604020202020204" pitchFamily="34" charset="0"/>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IN" sz="2400" dirty="0"/>
              <a:t>Problem Statement</a:t>
            </a:r>
            <a:endParaRPr sz="2400" dirty="0"/>
          </a:p>
        </p:txBody>
      </p:sp>
      <p:sp>
        <p:nvSpPr>
          <p:cNvPr id="6" name="Text Placeholder 5">
            <a:extLst>
              <a:ext uri="{FF2B5EF4-FFF2-40B4-BE49-F238E27FC236}">
                <a16:creationId xmlns:a16="http://schemas.microsoft.com/office/drawing/2014/main" id="{7EF2FA6C-F8D7-1712-9DBD-0912EEBF8E64}"/>
              </a:ext>
            </a:extLst>
          </p:cNvPr>
          <p:cNvSpPr>
            <a:spLocks noGrp="1"/>
          </p:cNvSpPr>
          <p:nvPr>
            <p:ph type="body" idx="1"/>
          </p:nvPr>
        </p:nvSpPr>
        <p:spPr>
          <a:xfrm>
            <a:off x="460044" y="1760981"/>
            <a:ext cx="11271910" cy="4293483"/>
          </a:xfrm>
        </p:spPr>
        <p:txBody>
          <a:bodyPr/>
          <a:lstStyle/>
          <a:p>
            <a:pPr algn="ctr"/>
            <a:r>
              <a:rPr lang="en-IN" b="1" dirty="0">
                <a:latin typeface="Arial" panose="020B0604020202020204" pitchFamily="34" charset="0"/>
                <a:cs typeface="Arial" panose="020B0604020202020204" pitchFamily="34" charset="0"/>
              </a:rPr>
              <a:t>AI BASED SENSOR FOR MARINE LIFE PROTECTION</a:t>
            </a:r>
          </a:p>
          <a:p>
            <a:pPr algn="just">
              <a:lnSpc>
                <a:spcPct val="150000"/>
              </a:lnSpc>
            </a:pPr>
            <a:r>
              <a:rPr lang="en-US" sz="1800" dirty="0">
                <a:effectLst/>
                <a:latin typeface="Arial" panose="020B0604020202020204" pitchFamily="34" charset="0"/>
                <a:ea typeface="Times New Roman" panose="02020603050405020304" pitchFamily="18" charset="0"/>
                <a:cs typeface="Arial" panose="020B0604020202020204" pitchFamily="34" charset="0"/>
              </a:rPr>
              <a:t>Tidal energy is a renewable energy that harnesses the power of ocean tides to generate electricity. It is an eco-friendly energy resource since it doesn’t release any greenhouse gases. In fact, it has greater efficiency than solar or wind energy. There is scope to generate this energy on a large scale but there are many hindrances like frozen sea, low or weak tides, straight shore lines. Apart from this there is an ecological disturbance in marine life. </a:t>
            </a:r>
            <a:r>
              <a:rPr lang="en-US" sz="1800" dirty="0">
                <a:effectLst/>
                <a:latin typeface="Arial" panose="020B0604020202020204" pitchFamily="34" charset="0"/>
                <a:ea typeface="Calibri" panose="020F0502020204030204" pitchFamily="34" charset="0"/>
                <a:cs typeface="Arial" panose="020B0604020202020204" pitchFamily="34" charset="0"/>
              </a:rPr>
              <a:t>In our project, we will develop a chemical discharger which will release ‘DISTURBANCES CUES’ a signal(chemicals) which marine animal will detect and will stay away from the tidal plant. This device can be put into the water body where the tidal plant is setup. This project is an attempt to understand the response mechanism of aquatic life and also solve one of the major issues hindering the setup of tidal plant. It also aims to conserve and sustainably use the oceans, seas and marine resources for sustainable development.</a:t>
            </a:r>
            <a:endParaRPr lang="en-IN" sz="1800" dirty="0">
              <a:effectLst/>
              <a:latin typeface="Arial" panose="020B0604020202020204" pitchFamily="34" charset="0"/>
              <a:ea typeface="Times New Roman" panose="02020603050405020304" pitchFamily="18"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0044" y="165750"/>
            <a:ext cx="11455400" cy="518091"/>
          </a:xfrm>
          <a:prstGeom prst="rect">
            <a:avLst/>
          </a:prstGeom>
          <a:solidFill>
            <a:srgbClr val="A000FF"/>
          </a:solidFill>
        </p:spPr>
        <p:txBody>
          <a:bodyPr vert="horz" wrap="square" lIns="0" tIns="86360" rIns="0" bIns="0" rtlCol="0">
            <a:spAutoFit/>
          </a:bodyPr>
          <a:lstStyle/>
          <a:p>
            <a:pPr marL="90805">
              <a:lnSpc>
                <a:spcPct val="100000"/>
              </a:lnSpc>
              <a:spcBef>
                <a:spcPts val="680"/>
              </a:spcBef>
            </a:pPr>
            <a:r>
              <a:rPr sz="2800" dirty="0"/>
              <a:t>Proposed</a:t>
            </a:r>
            <a:r>
              <a:rPr sz="2800" spc="-25" dirty="0"/>
              <a:t> </a:t>
            </a:r>
            <a:r>
              <a:rPr sz="2800" spc="-5" dirty="0"/>
              <a:t>solution</a:t>
            </a:r>
            <a:r>
              <a:rPr sz="2800" spc="-50" dirty="0"/>
              <a:t> </a:t>
            </a:r>
            <a:endParaRPr sz="2800" dirty="0"/>
          </a:p>
        </p:txBody>
      </p:sp>
      <p:sp>
        <p:nvSpPr>
          <p:cNvPr id="4" name="Text Placeholder 3">
            <a:extLst>
              <a:ext uri="{FF2B5EF4-FFF2-40B4-BE49-F238E27FC236}">
                <a16:creationId xmlns:a16="http://schemas.microsoft.com/office/drawing/2014/main" id="{775725EF-5E89-8BD1-58F2-8B098220E8C0}"/>
              </a:ext>
            </a:extLst>
          </p:cNvPr>
          <p:cNvSpPr>
            <a:spLocks noGrp="1"/>
          </p:cNvSpPr>
          <p:nvPr>
            <p:ph type="body" idx="1"/>
          </p:nvPr>
        </p:nvSpPr>
        <p:spPr>
          <a:xfrm>
            <a:off x="460044" y="1143001"/>
            <a:ext cx="11271910" cy="3272691"/>
          </a:xfrm>
        </p:spPr>
        <p:txBody>
          <a:bodyPr/>
          <a:lstStyle/>
          <a:p>
            <a:pPr algn="just">
              <a:lnSpc>
                <a:spcPct val="150000"/>
              </a:lnSpc>
            </a:pPr>
            <a:r>
              <a:rPr lang="en-IN" sz="1800" dirty="0">
                <a:solidFill>
                  <a:srgbClr val="202124"/>
                </a:solidFill>
                <a:effectLst/>
                <a:latin typeface="Arial" panose="020B0604020202020204" pitchFamily="34" charset="0"/>
                <a:ea typeface="Calibri" panose="020F0502020204030204" pitchFamily="34" charset="0"/>
                <a:cs typeface="Arial" panose="020B0604020202020204" pitchFamily="34" charset="0"/>
              </a:rPr>
              <a:t>A tidal energy works </a:t>
            </a:r>
            <a:r>
              <a:rPr lang="en-IN" sz="1800" dirty="0">
                <a:solidFill>
                  <a:srgbClr val="040C28"/>
                </a:solidFill>
                <a:effectLst/>
                <a:latin typeface="Arial" panose="020B0604020202020204" pitchFamily="34" charset="0"/>
                <a:ea typeface="Calibri" panose="020F0502020204030204" pitchFamily="34" charset="0"/>
                <a:cs typeface="Arial" panose="020B0604020202020204" pitchFamily="34" charset="0"/>
              </a:rPr>
              <a:t>via a turbine works like a wind turbine, with blades rotating 12-to-18 times a minute depending on tide strength</a:t>
            </a:r>
            <a:r>
              <a:rPr lang="en-IN" sz="1800" dirty="0">
                <a:solidFill>
                  <a:srgbClr val="202124"/>
                </a:solidFill>
                <a:effectLst/>
                <a:latin typeface="Arial" panose="020B0604020202020204" pitchFamily="34" charset="0"/>
                <a:ea typeface="Calibri" panose="020F0502020204030204" pitchFamily="34" charset="0"/>
                <a:cs typeface="Arial" panose="020B0604020202020204" pitchFamily="34" charset="0"/>
              </a:rPr>
              <a:t>. The turbine is connected to a gearbox that turns a generator, creating electricity. Consecutively, with the help of </a:t>
            </a:r>
            <a:r>
              <a:rPr lang="en-IN" sz="1800" b="1" dirty="0">
                <a:solidFill>
                  <a:srgbClr val="202124"/>
                </a:solidFill>
                <a:effectLst/>
                <a:latin typeface="Arial" panose="020B0604020202020204" pitchFamily="34" charset="0"/>
                <a:ea typeface="Calibri" panose="020F0502020204030204" pitchFamily="34" charset="0"/>
                <a:cs typeface="Arial" panose="020B0604020202020204" pitchFamily="34" charset="0"/>
              </a:rPr>
              <a:t>SONAR SENSORS we will keep an eye on the marine animals’ safety</a:t>
            </a:r>
            <a:r>
              <a:rPr lang="en-IN" sz="1800" dirty="0">
                <a:solidFill>
                  <a:srgbClr val="202124"/>
                </a:solidFill>
                <a:effectLst/>
                <a:latin typeface="Arial" panose="020B0604020202020204" pitchFamily="34" charset="0"/>
                <a:ea typeface="Calibri" panose="020F0502020204030204" pitchFamily="34" charset="0"/>
                <a:cs typeface="Arial" panose="020B0604020202020204" pitchFamily="34" charset="0"/>
              </a:rPr>
              <a:t>. The sensor will detect the presence of fishes within a range of 11 metres. </a:t>
            </a:r>
            <a:r>
              <a:rPr lang="en-IN" b="1" dirty="0">
                <a:solidFill>
                  <a:srgbClr val="202124"/>
                </a:solidFill>
                <a:latin typeface="Arial" panose="020B0604020202020204" pitchFamily="34" charset="0"/>
                <a:ea typeface="Calibri" panose="020F0502020204030204" pitchFamily="34" charset="0"/>
                <a:cs typeface="Arial" panose="020B0604020202020204" pitchFamily="34" charset="0"/>
              </a:rPr>
              <a:t>It</a:t>
            </a:r>
            <a:r>
              <a:rPr lang="en-IN" sz="1800" b="1" dirty="0">
                <a:solidFill>
                  <a:srgbClr val="202124"/>
                </a:solidFill>
                <a:effectLst/>
                <a:latin typeface="Arial" panose="020B0604020202020204" pitchFamily="34" charset="0"/>
                <a:ea typeface="Calibri" panose="020F0502020204030204" pitchFamily="34" charset="0"/>
                <a:cs typeface="Arial" panose="020B0604020202020204" pitchFamily="34" charset="0"/>
              </a:rPr>
              <a:t> will direct this signal to the Chemical Discharger through the Relay Module. The chemicals used in the discharger are either Cephalopod Ink or Disturbances Cues.</a:t>
            </a:r>
            <a:r>
              <a:rPr lang="en-IN" sz="1800" dirty="0">
                <a:solidFill>
                  <a:srgbClr val="202124"/>
                </a:solidFill>
                <a:effectLst/>
                <a:latin typeface="Arial" panose="020B0604020202020204" pitchFamily="34" charset="0"/>
                <a:ea typeface="Calibri" panose="020F0502020204030204" pitchFamily="34" charset="0"/>
                <a:cs typeface="Arial" panose="020B0604020202020204" pitchFamily="34" charset="0"/>
              </a:rPr>
              <a:t> The chemical used might be subject to its availability, eco-friendliness and synthesising cost. Thus, the chemical is released which alerts the fish about the danger and hence save their lives. Also we have used Keil C and Arduino IDE to program our sensors.</a:t>
            </a:r>
            <a:endParaRPr lang="en-IN"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0044" y="136253"/>
            <a:ext cx="11455400" cy="518091"/>
          </a:xfrm>
          <a:prstGeom prst="rect">
            <a:avLst/>
          </a:prstGeom>
          <a:solidFill>
            <a:srgbClr val="A000FF"/>
          </a:solidFill>
        </p:spPr>
        <p:txBody>
          <a:bodyPr vert="horz" wrap="square" lIns="0" tIns="86360" rIns="0" bIns="0" rtlCol="0">
            <a:spAutoFit/>
          </a:bodyPr>
          <a:lstStyle/>
          <a:p>
            <a:pPr marL="90805">
              <a:lnSpc>
                <a:spcPct val="100000"/>
              </a:lnSpc>
              <a:spcBef>
                <a:spcPts val="680"/>
              </a:spcBef>
            </a:pPr>
            <a:r>
              <a:rPr lang="en-IN" sz="2800" dirty="0"/>
              <a:t>Block Diagram</a:t>
            </a:r>
            <a:endParaRPr sz="2800" dirty="0"/>
          </a:p>
        </p:txBody>
      </p:sp>
      <p:pic>
        <p:nvPicPr>
          <p:cNvPr id="6" name="Picture 5">
            <a:extLst>
              <a:ext uri="{FF2B5EF4-FFF2-40B4-BE49-F238E27FC236}">
                <a16:creationId xmlns:a16="http://schemas.microsoft.com/office/drawing/2014/main" id="{16748BDA-F10C-425F-015E-0707653953BC}"/>
              </a:ext>
            </a:extLst>
          </p:cNvPr>
          <p:cNvPicPr>
            <a:picLocks noChangeAspect="1"/>
          </p:cNvPicPr>
          <p:nvPr/>
        </p:nvPicPr>
        <p:blipFill>
          <a:blip r:embed="rId2"/>
          <a:stretch>
            <a:fillRect/>
          </a:stretch>
        </p:blipFill>
        <p:spPr>
          <a:xfrm>
            <a:off x="3109152" y="1752600"/>
            <a:ext cx="6157183" cy="3855855"/>
          </a:xfrm>
          <a:prstGeom prst="rect">
            <a:avLst/>
          </a:prstGeom>
        </p:spPr>
      </p:pic>
      <p:sp>
        <p:nvSpPr>
          <p:cNvPr id="4" name="Text Placeholder 3">
            <a:extLst>
              <a:ext uri="{FF2B5EF4-FFF2-40B4-BE49-F238E27FC236}">
                <a16:creationId xmlns:a16="http://schemas.microsoft.com/office/drawing/2014/main" id="{775725EF-5E89-8BD1-58F2-8B098220E8C0}"/>
              </a:ext>
            </a:extLst>
          </p:cNvPr>
          <p:cNvSpPr>
            <a:spLocks noGrp="1"/>
          </p:cNvSpPr>
          <p:nvPr>
            <p:ph type="body" idx="1"/>
          </p:nvPr>
        </p:nvSpPr>
        <p:spPr>
          <a:xfrm>
            <a:off x="460044" y="1142999"/>
            <a:ext cx="11271910" cy="4519186"/>
          </a:xfrm>
        </p:spPr>
        <p:txBody>
          <a:bodyPr/>
          <a:lstStyle/>
          <a:p>
            <a:pPr algn="just">
              <a:lnSpc>
                <a:spcPct val="150000"/>
              </a:lnSpc>
            </a:pPr>
            <a:r>
              <a:rPr lang="en-IN" dirty="0">
                <a:latin typeface="Arial" panose="020B0604020202020204" pitchFamily="34" charset="0"/>
                <a:cs typeface="Arial" panose="020B0604020202020204" pitchFamily="34" charset="0"/>
              </a:rPr>
              <a:t>The below diagram represents the working mechanism of the model:</a:t>
            </a:r>
          </a:p>
          <a:p>
            <a:pPr algn="just">
              <a:lnSpc>
                <a:spcPct val="150000"/>
              </a:lnSpc>
            </a:pPr>
            <a:r>
              <a:rPr lang="en-IN" dirty="0">
                <a:latin typeface="Arial" panose="020B0604020202020204" pitchFamily="34" charset="0"/>
                <a:cs typeface="Arial" panose="020B0604020202020204" pitchFamily="34" charset="0"/>
              </a:rPr>
              <a:t> </a:t>
            </a: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ctr">
              <a:lnSpc>
                <a:spcPct val="150000"/>
              </a:lnSpc>
            </a:pPr>
            <a:r>
              <a:rPr lang="en-IN" dirty="0">
                <a:latin typeface="Arial" panose="020B0604020202020204" pitchFamily="34" charset="0"/>
                <a:cs typeface="Arial" panose="020B0604020202020204" pitchFamily="34" charset="0"/>
              </a:rPr>
              <a:t> </a:t>
            </a:r>
            <a:r>
              <a:rPr lang="en-IN" sz="1200" dirty="0">
                <a:latin typeface="Arial" panose="020B0604020202020204" pitchFamily="34" charset="0"/>
                <a:cs typeface="Arial" panose="020B0604020202020204" pitchFamily="34" charset="0"/>
              </a:rPr>
              <a:t>Fig. 1 Block Diagram</a:t>
            </a:r>
          </a:p>
        </p:txBody>
      </p:sp>
      <p:sp>
        <p:nvSpPr>
          <p:cNvPr id="8" name="TextBox 7">
            <a:extLst>
              <a:ext uri="{FF2B5EF4-FFF2-40B4-BE49-F238E27FC236}">
                <a16:creationId xmlns:a16="http://schemas.microsoft.com/office/drawing/2014/main" id="{76327F50-8D42-865A-90A4-EA42869261DA}"/>
              </a:ext>
            </a:extLst>
          </p:cNvPr>
          <p:cNvSpPr txBox="1"/>
          <p:nvPr/>
        </p:nvSpPr>
        <p:spPr>
          <a:xfrm>
            <a:off x="1096864" y="2133600"/>
            <a:ext cx="2012288" cy="584775"/>
          </a:xfrm>
          <a:prstGeom prst="rect">
            <a:avLst/>
          </a:prstGeom>
          <a:noFill/>
        </p:spPr>
        <p:txBody>
          <a:bodyPr wrap="square" rtlCol="0">
            <a:spAutoFit/>
          </a:bodyPr>
          <a:lstStyle/>
          <a:p>
            <a:pPr algn="just"/>
            <a:r>
              <a:rPr lang="en-IN" sz="1600" dirty="0">
                <a:latin typeface="Arial" panose="020B0604020202020204" pitchFamily="34" charset="0"/>
                <a:cs typeface="Arial" panose="020B0604020202020204" pitchFamily="34" charset="0"/>
              </a:rPr>
              <a:t>The output energy of the tidal plant.</a:t>
            </a:r>
          </a:p>
        </p:txBody>
      </p:sp>
      <p:sp>
        <p:nvSpPr>
          <p:cNvPr id="9" name="TextBox 8">
            <a:extLst>
              <a:ext uri="{FF2B5EF4-FFF2-40B4-BE49-F238E27FC236}">
                <a16:creationId xmlns:a16="http://schemas.microsoft.com/office/drawing/2014/main" id="{EFB89C75-3A9A-2E47-0146-2DC5AC9BD514}"/>
              </a:ext>
            </a:extLst>
          </p:cNvPr>
          <p:cNvSpPr txBox="1"/>
          <p:nvPr/>
        </p:nvSpPr>
        <p:spPr>
          <a:xfrm>
            <a:off x="9525000" y="3485535"/>
            <a:ext cx="2206954" cy="1569660"/>
          </a:xfrm>
          <a:prstGeom prst="rect">
            <a:avLst/>
          </a:prstGeom>
          <a:noFill/>
        </p:spPr>
        <p:txBody>
          <a:bodyPr wrap="square" rtlCol="0">
            <a:spAutoFit/>
          </a:bodyPr>
          <a:lstStyle/>
          <a:p>
            <a:pPr algn="just"/>
            <a:r>
              <a:rPr lang="en-IN" sz="1600" dirty="0">
                <a:latin typeface="Arial" panose="020B0604020202020204" pitchFamily="34" charset="0"/>
                <a:cs typeface="Arial" panose="020B0604020202020204" pitchFamily="34" charset="0"/>
              </a:rPr>
              <a:t>The SONAR sensor detects the fish and it sends the signal to the Chemical Discharger via the Relay Module.</a:t>
            </a:r>
          </a:p>
        </p:txBody>
      </p:sp>
      <p:sp>
        <p:nvSpPr>
          <p:cNvPr id="11" name="TextBox 10">
            <a:extLst>
              <a:ext uri="{FF2B5EF4-FFF2-40B4-BE49-F238E27FC236}">
                <a16:creationId xmlns:a16="http://schemas.microsoft.com/office/drawing/2014/main" id="{BF7C58B8-63C6-BEF8-0D71-5F47CDF6911E}"/>
              </a:ext>
            </a:extLst>
          </p:cNvPr>
          <p:cNvSpPr txBox="1"/>
          <p:nvPr/>
        </p:nvSpPr>
        <p:spPr>
          <a:xfrm>
            <a:off x="2590800" y="4419600"/>
            <a:ext cx="1805748" cy="1077218"/>
          </a:xfrm>
          <a:prstGeom prst="rect">
            <a:avLst/>
          </a:prstGeom>
          <a:noFill/>
        </p:spPr>
        <p:txBody>
          <a:bodyPr wrap="square" rtlCol="0">
            <a:spAutoFit/>
          </a:bodyPr>
          <a:lstStyle/>
          <a:p>
            <a:pPr algn="just"/>
            <a:r>
              <a:rPr lang="en-IN" sz="1600" dirty="0">
                <a:latin typeface="Arial" panose="020B0604020202020204" pitchFamily="34" charset="0"/>
                <a:cs typeface="Arial" panose="020B0604020202020204" pitchFamily="34" charset="0"/>
              </a:rPr>
              <a:t>The Chemical Discharger releases the Cephalopod Ink.</a:t>
            </a:r>
          </a:p>
        </p:txBody>
      </p:sp>
    </p:spTree>
    <p:extLst>
      <p:ext uri="{BB962C8B-B14F-4D97-AF65-F5344CB8AC3E}">
        <p14:creationId xmlns:p14="http://schemas.microsoft.com/office/powerpoint/2010/main" val="1340122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41375" y="260533"/>
            <a:ext cx="11283950" cy="685800"/>
          </a:xfrm>
          <a:custGeom>
            <a:avLst/>
            <a:gdLst/>
            <a:ahLst/>
            <a:cxnLst/>
            <a:rect l="l" t="t" r="r" b="b"/>
            <a:pathLst>
              <a:path w="11283950" h="685800">
                <a:moveTo>
                  <a:pt x="11283696" y="0"/>
                </a:moveTo>
                <a:lnTo>
                  <a:pt x="0" y="0"/>
                </a:lnTo>
                <a:lnTo>
                  <a:pt x="0" y="685800"/>
                </a:lnTo>
                <a:lnTo>
                  <a:pt x="11283696" y="685800"/>
                </a:lnTo>
                <a:lnTo>
                  <a:pt x="11283696" y="0"/>
                </a:lnTo>
                <a:close/>
              </a:path>
            </a:pathLst>
          </a:custGeom>
          <a:solidFill>
            <a:srgbClr val="A000FF"/>
          </a:solidFill>
        </p:spPr>
        <p:txBody>
          <a:bodyPr wrap="square" lIns="0" tIns="0" rIns="0" bIns="0" rtlCol="0"/>
          <a:lstStyle/>
          <a:p>
            <a:r>
              <a:rPr lang="en-IN" sz="2800" dirty="0">
                <a:solidFill>
                  <a:schemeClr val="bg1"/>
                </a:solidFill>
                <a:latin typeface="Arial" panose="020B0604020202020204" pitchFamily="34" charset="0"/>
                <a:cs typeface="Arial" panose="020B0604020202020204" pitchFamily="34" charset="0"/>
              </a:rPr>
              <a:t>Hardware Details</a:t>
            </a:r>
            <a:endParaRPr sz="2800" dirty="0">
              <a:solidFill>
                <a:schemeClr val="bg1"/>
              </a:solidFill>
              <a:latin typeface="Arial" panose="020B0604020202020204" pitchFamily="34" charset="0"/>
              <a:cs typeface="Arial" panose="020B0604020202020204" pitchFamily="34" charset="0"/>
            </a:endParaRPr>
          </a:p>
        </p:txBody>
      </p:sp>
      <p:sp>
        <p:nvSpPr>
          <p:cNvPr id="3" name="object 3"/>
          <p:cNvSpPr txBox="1">
            <a:spLocks noGrp="1"/>
          </p:cNvSpPr>
          <p:nvPr>
            <p:ph type="title"/>
          </p:nvPr>
        </p:nvSpPr>
        <p:spPr>
          <a:xfrm>
            <a:off x="169925" y="2563228"/>
            <a:ext cx="11455400" cy="1123314"/>
          </a:xfrm>
          <a:prstGeom prst="rect">
            <a:avLst/>
          </a:prstGeom>
        </p:spPr>
        <p:txBody>
          <a:bodyPr vert="horz" wrap="square" lIns="0" tIns="13335" rIns="0" bIns="0" rtlCol="0">
            <a:spAutoFit/>
          </a:bodyPr>
          <a:lstStyle/>
          <a:p>
            <a:pPr marL="12700">
              <a:lnSpc>
                <a:spcPts val="2510"/>
              </a:lnSpc>
              <a:spcBef>
                <a:spcPts val="105"/>
              </a:spcBef>
            </a:pPr>
            <a:r>
              <a:rPr sz="2200" dirty="0"/>
              <a:t>How</a:t>
            </a:r>
            <a:r>
              <a:rPr sz="2200" spc="-15" dirty="0"/>
              <a:t> </a:t>
            </a:r>
            <a:r>
              <a:rPr sz="2200" dirty="0"/>
              <a:t>does </a:t>
            </a:r>
            <a:r>
              <a:rPr sz="2200" spc="-15" dirty="0"/>
              <a:t>your</a:t>
            </a:r>
            <a:r>
              <a:rPr sz="2200" spc="55" dirty="0"/>
              <a:t> </a:t>
            </a:r>
            <a:r>
              <a:rPr sz="2200" dirty="0"/>
              <a:t>innovation</a:t>
            </a:r>
            <a:r>
              <a:rPr sz="2200" spc="20" dirty="0"/>
              <a:t> </a:t>
            </a:r>
            <a:r>
              <a:rPr sz="2200" dirty="0"/>
              <a:t>accelerate</a:t>
            </a:r>
            <a:r>
              <a:rPr sz="2200" spc="-10" dirty="0"/>
              <a:t> </a:t>
            </a:r>
            <a:r>
              <a:rPr sz="2200" dirty="0"/>
              <a:t>change</a:t>
            </a:r>
            <a:r>
              <a:rPr sz="2200" spc="-5" dirty="0"/>
              <a:t> </a:t>
            </a:r>
            <a:r>
              <a:rPr sz="2200" spc="20" dirty="0"/>
              <a:t>with</a:t>
            </a:r>
            <a:r>
              <a:rPr sz="2200" spc="-65" dirty="0"/>
              <a:t> </a:t>
            </a:r>
            <a:r>
              <a:rPr sz="2200" spc="5" dirty="0"/>
              <a:t>the</a:t>
            </a:r>
            <a:r>
              <a:rPr sz="2200" spc="-20" dirty="0"/>
              <a:t> </a:t>
            </a:r>
            <a:r>
              <a:rPr sz="2200" spc="10" dirty="0"/>
              <a:t>power</a:t>
            </a:r>
            <a:r>
              <a:rPr sz="2200" spc="-65" dirty="0"/>
              <a:t> </a:t>
            </a:r>
            <a:r>
              <a:rPr sz="2200" dirty="0"/>
              <a:t>of</a:t>
            </a:r>
            <a:r>
              <a:rPr sz="2200" spc="10" dirty="0"/>
              <a:t> </a:t>
            </a:r>
            <a:r>
              <a:rPr sz="2200" spc="-20" dirty="0"/>
              <a:t>Technology?</a:t>
            </a:r>
            <a:endParaRPr sz="2200" dirty="0"/>
          </a:p>
          <a:p>
            <a:pPr marL="12700">
              <a:lnSpc>
                <a:spcPts val="2510"/>
              </a:lnSpc>
            </a:pPr>
            <a:endParaRPr sz="2200" dirty="0"/>
          </a:p>
        </p:txBody>
      </p:sp>
      <p:sp>
        <p:nvSpPr>
          <p:cNvPr id="4" name="Text Placeholder 3">
            <a:extLst>
              <a:ext uri="{FF2B5EF4-FFF2-40B4-BE49-F238E27FC236}">
                <a16:creationId xmlns:a16="http://schemas.microsoft.com/office/drawing/2014/main" id="{DC5902B8-9BE2-C2AA-581C-CDF6A5F63F76}"/>
              </a:ext>
            </a:extLst>
          </p:cNvPr>
          <p:cNvSpPr>
            <a:spLocks noGrp="1"/>
          </p:cNvSpPr>
          <p:nvPr>
            <p:ph type="body" idx="1"/>
          </p:nvPr>
        </p:nvSpPr>
        <p:spPr>
          <a:xfrm>
            <a:off x="341375" y="1219200"/>
            <a:ext cx="11390579" cy="7520007"/>
          </a:xfrm>
        </p:spPr>
        <p:txBody>
          <a:bodyPr/>
          <a:lstStyle/>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r>
              <a:rPr lang="en-IN" dirty="0">
                <a:latin typeface="Arial" panose="020B0604020202020204" pitchFamily="34" charset="0"/>
                <a:cs typeface="Arial" panose="020B0604020202020204" pitchFamily="34" charset="0"/>
              </a:rPr>
              <a:t>           </a:t>
            </a:r>
          </a:p>
          <a:p>
            <a:pPr algn="l">
              <a:lnSpc>
                <a:spcPct val="150000"/>
              </a:lnSpc>
            </a:pPr>
            <a:r>
              <a:rPr lang="en-IN" dirty="0">
                <a:latin typeface="Arial" panose="020B0604020202020204" pitchFamily="34" charset="0"/>
                <a:cs typeface="Arial" panose="020B0604020202020204" pitchFamily="34" charset="0"/>
              </a:rPr>
              <a:t>             </a:t>
            </a:r>
            <a:r>
              <a:rPr lang="en-IN" sz="1600" dirty="0">
                <a:latin typeface="Arial" panose="020B0604020202020204" pitchFamily="34" charset="0"/>
                <a:cs typeface="Arial" panose="020B0604020202020204" pitchFamily="34" charset="0"/>
              </a:rPr>
              <a:t>Fig.2 Sonar Sensor                           Fig. 3 Ultrasonic Sensor                       Fig. 4 12V Relay Module         </a:t>
            </a:r>
          </a:p>
          <a:p>
            <a:pPr algn="l">
              <a:lnSpc>
                <a:spcPct val="150000"/>
              </a:lnSpc>
            </a:pPr>
            <a:endParaRPr lang="en-IN" sz="1600" dirty="0">
              <a:latin typeface="Arial" panose="020B0604020202020204" pitchFamily="34" charset="0"/>
              <a:cs typeface="Arial" panose="020B0604020202020204" pitchFamily="34" charset="0"/>
            </a:endParaRPr>
          </a:p>
          <a:p>
            <a:pPr algn="l">
              <a:lnSpc>
                <a:spcPct val="150000"/>
              </a:lnSpc>
            </a:pPr>
            <a:endParaRPr lang="en-IN" sz="1600" dirty="0">
              <a:latin typeface="Arial" panose="020B0604020202020204" pitchFamily="34" charset="0"/>
              <a:cs typeface="Arial" panose="020B0604020202020204" pitchFamily="34" charset="0"/>
            </a:endParaRPr>
          </a:p>
          <a:p>
            <a:pPr algn="l">
              <a:lnSpc>
                <a:spcPct val="150000"/>
              </a:lnSpc>
            </a:pPr>
            <a:endParaRPr lang="en-IN" sz="1600" dirty="0">
              <a:latin typeface="Arial" panose="020B0604020202020204" pitchFamily="34" charset="0"/>
              <a:cs typeface="Arial" panose="020B0604020202020204" pitchFamily="34" charset="0"/>
            </a:endParaRPr>
          </a:p>
          <a:p>
            <a:pPr algn="l">
              <a:lnSpc>
                <a:spcPct val="150000"/>
              </a:lnSpc>
            </a:pPr>
            <a:endParaRPr lang="en-IN" sz="1600" dirty="0">
              <a:latin typeface="Arial" panose="020B0604020202020204" pitchFamily="34" charset="0"/>
              <a:cs typeface="Arial" panose="020B0604020202020204" pitchFamily="34" charset="0"/>
            </a:endParaRPr>
          </a:p>
          <a:p>
            <a:pPr algn="l">
              <a:lnSpc>
                <a:spcPct val="150000"/>
              </a:lnSpc>
            </a:pPr>
            <a:endParaRPr lang="en-IN" sz="1600" dirty="0">
              <a:latin typeface="Arial" panose="020B0604020202020204" pitchFamily="34" charset="0"/>
              <a:cs typeface="Arial" panose="020B0604020202020204" pitchFamily="34" charset="0"/>
            </a:endParaRPr>
          </a:p>
          <a:p>
            <a:pPr algn="l">
              <a:lnSpc>
                <a:spcPct val="150000"/>
              </a:lnSpc>
            </a:pPr>
            <a:r>
              <a:rPr lang="en-IN" sz="1600" dirty="0">
                <a:latin typeface="Arial" panose="020B0604020202020204" pitchFamily="34" charset="0"/>
                <a:cs typeface="Arial" panose="020B0604020202020204" pitchFamily="34" charset="0"/>
              </a:rPr>
              <a:t>        Fig. 5 Arduino UNO Microcontroller             Fig. 6 Tidal Turbine                                   Fig. 7 Tidal Generator             </a:t>
            </a:r>
          </a:p>
          <a:p>
            <a:pPr algn="l">
              <a:lnSpc>
                <a:spcPct val="150000"/>
              </a:lnSpc>
            </a:pPr>
            <a:endParaRPr lang="en-IN" sz="1600"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B7D65D6-0F25-B59A-280C-C30243C8695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19200"/>
            <a:ext cx="1828800" cy="1828800"/>
          </a:xfrm>
          <a:prstGeom prst="rect">
            <a:avLst/>
          </a:prstGeom>
          <a:noFill/>
          <a:ln>
            <a:noFill/>
          </a:ln>
        </p:spPr>
      </p:pic>
      <p:pic>
        <p:nvPicPr>
          <p:cNvPr id="8" name="Picture 7" descr="SRF02 Ultrasonic range finder">
            <a:extLst>
              <a:ext uri="{FF2B5EF4-FFF2-40B4-BE49-F238E27FC236}">
                <a16:creationId xmlns:a16="http://schemas.microsoft.com/office/drawing/2014/main" id="{D7E1BDC3-8018-CC83-0360-3B3C765B87C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32809" y="1371422"/>
            <a:ext cx="1752600" cy="1634369"/>
          </a:xfrm>
          <a:prstGeom prst="rect">
            <a:avLst/>
          </a:prstGeom>
          <a:noFill/>
          <a:ln>
            <a:noFill/>
          </a:ln>
        </p:spPr>
      </p:pic>
      <p:pic>
        <p:nvPicPr>
          <p:cNvPr id="9" name="Picture 8">
            <a:extLst>
              <a:ext uri="{FF2B5EF4-FFF2-40B4-BE49-F238E27FC236}">
                <a16:creationId xmlns:a16="http://schemas.microsoft.com/office/drawing/2014/main" id="{9CBF5D5A-2D2D-1A1A-E98C-A2DBE92BC5F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80631" y="1258466"/>
            <a:ext cx="2676524" cy="1947435"/>
          </a:xfrm>
          <a:prstGeom prst="rect">
            <a:avLst/>
          </a:prstGeom>
          <a:noFill/>
          <a:ln>
            <a:noFill/>
          </a:ln>
        </p:spPr>
      </p:pic>
      <p:pic>
        <p:nvPicPr>
          <p:cNvPr id="10" name="Picture 9">
            <a:extLst>
              <a:ext uri="{FF2B5EF4-FFF2-40B4-BE49-F238E27FC236}">
                <a16:creationId xmlns:a16="http://schemas.microsoft.com/office/drawing/2014/main" id="{808B2ADD-B32A-BDD4-FCA5-E057EC5D056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959409"/>
            <a:ext cx="2676525" cy="1588770"/>
          </a:xfrm>
          <a:prstGeom prst="rect">
            <a:avLst/>
          </a:prstGeom>
          <a:noFill/>
          <a:ln>
            <a:noFill/>
          </a:ln>
        </p:spPr>
      </p:pic>
      <p:pic>
        <p:nvPicPr>
          <p:cNvPr id="11" name="Picture 10">
            <a:extLst>
              <a:ext uri="{FF2B5EF4-FFF2-40B4-BE49-F238E27FC236}">
                <a16:creationId xmlns:a16="http://schemas.microsoft.com/office/drawing/2014/main" id="{DCF074C6-4168-EAF9-1086-573B9087F28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3870958"/>
            <a:ext cx="3124200" cy="1592031"/>
          </a:xfrm>
          <a:prstGeom prst="rect">
            <a:avLst/>
          </a:prstGeom>
          <a:noFill/>
          <a:ln>
            <a:noFill/>
          </a:ln>
        </p:spPr>
      </p:pic>
      <p:pic>
        <p:nvPicPr>
          <p:cNvPr id="12" name="Picture 11">
            <a:extLst>
              <a:ext uri="{FF2B5EF4-FFF2-40B4-BE49-F238E27FC236}">
                <a16:creationId xmlns:a16="http://schemas.microsoft.com/office/drawing/2014/main" id="{EE9B4F10-5A7F-558E-3E13-36DB54F407D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382000" y="3846389"/>
            <a:ext cx="2112780" cy="1677209"/>
          </a:xfrm>
          <a:prstGeom prst="rect">
            <a:avLst/>
          </a:prstGeom>
          <a:noFill/>
          <a:ln>
            <a:noFill/>
          </a:ln>
        </p:spPr>
      </p:pic>
    </p:spTree>
    <p:extLst>
      <p:ext uri="{BB962C8B-B14F-4D97-AF65-F5344CB8AC3E}">
        <p14:creationId xmlns:p14="http://schemas.microsoft.com/office/powerpoint/2010/main" val="904524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41375" y="260533"/>
            <a:ext cx="11283950" cy="685800"/>
          </a:xfrm>
          <a:custGeom>
            <a:avLst/>
            <a:gdLst/>
            <a:ahLst/>
            <a:cxnLst/>
            <a:rect l="l" t="t" r="r" b="b"/>
            <a:pathLst>
              <a:path w="11283950" h="685800">
                <a:moveTo>
                  <a:pt x="11283696" y="0"/>
                </a:moveTo>
                <a:lnTo>
                  <a:pt x="0" y="0"/>
                </a:lnTo>
                <a:lnTo>
                  <a:pt x="0" y="685800"/>
                </a:lnTo>
                <a:lnTo>
                  <a:pt x="11283696" y="685800"/>
                </a:lnTo>
                <a:lnTo>
                  <a:pt x="11283696" y="0"/>
                </a:lnTo>
                <a:close/>
              </a:path>
            </a:pathLst>
          </a:custGeom>
          <a:solidFill>
            <a:srgbClr val="A000FF"/>
          </a:solidFill>
        </p:spPr>
        <p:txBody>
          <a:bodyPr wrap="square" lIns="0" tIns="0" rIns="0" bIns="0" rtlCol="0"/>
          <a:lstStyle/>
          <a:p>
            <a:r>
              <a:rPr lang="en-IN" sz="2800" dirty="0">
                <a:solidFill>
                  <a:schemeClr val="bg1"/>
                </a:solidFill>
                <a:latin typeface="Arial" panose="020B0604020202020204" pitchFamily="34" charset="0"/>
                <a:cs typeface="Arial" panose="020B0604020202020204" pitchFamily="34" charset="0"/>
              </a:rPr>
              <a:t>Acceleration in Innovation with the power of Technology</a:t>
            </a:r>
            <a:endParaRPr sz="2800" dirty="0">
              <a:solidFill>
                <a:schemeClr val="bg1"/>
              </a:solidFill>
              <a:latin typeface="Arial" panose="020B0604020202020204" pitchFamily="34" charset="0"/>
              <a:cs typeface="Arial" panose="020B0604020202020204" pitchFamily="34" charset="0"/>
            </a:endParaRPr>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12700">
              <a:lnSpc>
                <a:spcPts val="2510"/>
              </a:lnSpc>
              <a:spcBef>
                <a:spcPts val="105"/>
              </a:spcBef>
            </a:pPr>
            <a:r>
              <a:rPr sz="2200" dirty="0"/>
              <a:t>How</a:t>
            </a:r>
            <a:r>
              <a:rPr sz="2200" spc="-15" dirty="0"/>
              <a:t> </a:t>
            </a:r>
            <a:r>
              <a:rPr sz="2200" dirty="0"/>
              <a:t>does </a:t>
            </a:r>
            <a:r>
              <a:rPr sz="2200" spc="-15" dirty="0"/>
              <a:t>your</a:t>
            </a:r>
            <a:r>
              <a:rPr sz="2200" spc="55" dirty="0"/>
              <a:t> </a:t>
            </a:r>
            <a:r>
              <a:rPr sz="2200" dirty="0"/>
              <a:t>innovation</a:t>
            </a:r>
            <a:r>
              <a:rPr sz="2200" spc="20" dirty="0"/>
              <a:t> </a:t>
            </a:r>
            <a:r>
              <a:rPr sz="2200" dirty="0"/>
              <a:t>accelerate</a:t>
            </a:r>
            <a:r>
              <a:rPr sz="2200" spc="-10" dirty="0"/>
              <a:t> </a:t>
            </a:r>
            <a:r>
              <a:rPr sz="2200" dirty="0"/>
              <a:t>change</a:t>
            </a:r>
            <a:r>
              <a:rPr sz="2200" spc="-5" dirty="0"/>
              <a:t> </a:t>
            </a:r>
            <a:r>
              <a:rPr sz="2200" spc="20" dirty="0"/>
              <a:t>with</a:t>
            </a:r>
            <a:r>
              <a:rPr sz="2200" spc="-65" dirty="0"/>
              <a:t> </a:t>
            </a:r>
            <a:r>
              <a:rPr sz="2200" spc="5" dirty="0"/>
              <a:t>the</a:t>
            </a:r>
            <a:r>
              <a:rPr sz="2200" spc="-20" dirty="0"/>
              <a:t> </a:t>
            </a:r>
            <a:r>
              <a:rPr sz="2200" spc="10" dirty="0"/>
              <a:t>power</a:t>
            </a:r>
            <a:r>
              <a:rPr sz="2200" spc="-65" dirty="0"/>
              <a:t> </a:t>
            </a:r>
            <a:r>
              <a:rPr sz="2200" dirty="0"/>
              <a:t>of</a:t>
            </a:r>
            <a:r>
              <a:rPr sz="2200" spc="10" dirty="0"/>
              <a:t> </a:t>
            </a:r>
            <a:r>
              <a:rPr sz="2200" spc="-20" dirty="0"/>
              <a:t>Technology?</a:t>
            </a:r>
            <a:endParaRPr sz="2200" dirty="0"/>
          </a:p>
          <a:p>
            <a:pPr marL="12700">
              <a:lnSpc>
                <a:spcPts val="2510"/>
              </a:lnSpc>
            </a:pPr>
            <a:endParaRPr sz="2200" dirty="0"/>
          </a:p>
        </p:txBody>
      </p:sp>
      <p:sp>
        <p:nvSpPr>
          <p:cNvPr id="4" name="Text Placeholder 3">
            <a:extLst>
              <a:ext uri="{FF2B5EF4-FFF2-40B4-BE49-F238E27FC236}">
                <a16:creationId xmlns:a16="http://schemas.microsoft.com/office/drawing/2014/main" id="{DC5902B8-9BE2-C2AA-581C-CDF6A5F63F76}"/>
              </a:ext>
            </a:extLst>
          </p:cNvPr>
          <p:cNvSpPr>
            <a:spLocks noGrp="1"/>
          </p:cNvSpPr>
          <p:nvPr>
            <p:ph type="body" idx="1"/>
          </p:nvPr>
        </p:nvSpPr>
        <p:spPr>
          <a:xfrm>
            <a:off x="341375" y="1295401"/>
            <a:ext cx="11390579" cy="7843173"/>
          </a:xfrm>
        </p:spPr>
        <p:txBody>
          <a:bodyPr/>
          <a:lstStyle/>
          <a:p>
            <a:pPr algn="just">
              <a:lnSpc>
                <a:spcPct val="150000"/>
              </a:lnSpc>
            </a:pPr>
            <a:r>
              <a:rPr lang="en-IN" dirty="0">
                <a:latin typeface="Arial" panose="020B0604020202020204" pitchFamily="34" charset="0"/>
                <a:cs typeface="Arial" panose="020B0604020202020204" pitchFamily="34" charset="0"/>
              </a:rPr>
              <a:t>Our project aims in two goals , firstly, to protect the life under water(Marine life) as well as the growth in sustainable energy which is also one of the G20 goals in India. Our innovation which uses both AI techniques as well as sensor methodology can prove to be helpful by providing deeper insights about the life underwater. With the help of technology, we are saving the precious lives of the aquatic species as well as progressing in the field of energy development</a:t>
            </a:r>
            <a:r>
              <a:rPr lang="en-IN" dirty="0"/>
              <a:t>. </a:t>
            </a:r>
            <a:r>
              <a:rPr lang="en-IN" dirty="0">
                <a:latin typeface="Arial" panose="020B0604020202020204" pitchFamily="34" charset="0"/>
                <a:cs typeface="Arial" panose="020B0604020202020204" pitchFamily="34" charset="0"/>
              </a:rPr>
              <a:t>Arduino IDE and Keil C are the primary programming languages used in our project. The functions of the sensors are programmed into it so as to work out unmanned. The below picture represents the programming languages used in our sensors:</a:t>
            </a: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r>
              <a:rPr lang="en-IN" sz="1600" dirty="0">
                <a:latin typeface="Arial" panose="020B0604020202020204" pitchFamily="34" charset="0"/>
                <a:cs typeface="Arial" panose="020B0604020202020204" pitchFamily="34" charset="0"/>
              </a:rPr>
              <a:t>                    Fig. 8 Arduino IDE Software                                                  Fig. 9 Keil C Programming Language</a:t>
            </a: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p:txBody>
      </p:sp>
      <p:pic>
        <p:nvPicPr>
          <p:cNvPr id="5" name="Picture 4" descr="Software | Arduino">
            <a:extLst>
              <a:ext uri="{FF2B5EF4-FFF2-40B4-BE49-F238E27FC236}">
                <a16:creationId xmlns:a16="http://schemas.microsoft.com/office/drawing/2014/main" id="{40766F16-7395-F737-A66D-3DC9AA7C047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4348810"/>
            <a:ext cx="3124200" cy="1641136"/>
          </a:xfrm>
          <a:prstGeom prst="rect">
            <a:avLst/>
          </a:prstGeom>
          <a:noFill/>
          <a:ln>
            <a:noFill/>
          </a:ln>
        </p:spPr>
      </p:pic>
      <p:pic>
        <p:nvPicPr>
          <p:cNvPr id="6" name="Picture 5">
            <a:extLst>
              <a:ext uri="{FF2B5EF4-FFF2-40B4-BE49-F238E27FC236}">
                <a16:creationId xmlns:a16="http://schemas.microsoft.com/office/drawing/2014/main" id="{29A6E4FE-6EF5-7B45-B071-A579B5568AC0}"/>
              </a:ext>
            </a:extLst>
          </p:cNvPr>
          <p:cNvPicPr>
            <a:picLocks noChangeAspect="1"/>
          </p:cNvPicPr>
          <p:nvPr/>
        </p:nvPicPr>
        <p:blipFill>
          <a:blip r:embed="rId3"/>
          <a:stretch>
            <a:fillRect/>
          </a:stretch>
        </p:blipFill>
        <p:spPr>
          <a:xfrm>
            <a:off x="6781800" y="4346352"/>
            <a:ext cx="3581400" cy="1641136"/>
          </a:xfrm>
          <a:prstGeom prst="rect">
            <a:avLst/>
          </a:prstGeom>
        </p:spPr>
      </p:pic>
    </p:spTree>
    <p:extLst>
      <p:ext uri="{BB962C8B-B14F-4D97-AF65-F5344CB8AC3E}">
        <p14:creationId xmlns:p14="http://schemas.microsoft.com/office/powerpoint/2010/main" val="275924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5650" y="152400"/>
            <a:ext cx="11455400" cy="1123314"/>
          </a:xfrm>
          <a:prstGeom prst="rect">
            <a:avLst/>
          </a:prstGeom>
          <a:solidFill>
            <a:srgbClr val="A000FF"/>
          </a:solidFill>
        </p:spPr>
        <p:txBody>
          <a:bodyPr vert="horz" wrap="square" lIns="0" tIns="74930" rIns="0" bIns="0" rtlCol="0">
            <a:spAutoFit/>
          </a:bodyPr>
          <a:lstStyle/>
          <a:p>
            <a:pPr marL="90805" marR="1323975">
              <a:lnSpc>
                <a:spcPts val="2590"/>
              </a:lnSpc>
              <a:spcBef>
                <a:spcPts val="590"/>
              </a:spcBef>
            </a:pPr>
            <a:r>
              <a:rPr sz="2400" spc="-5" dirty="0"/>
              <a:t>How</a:t>
            </a:r>
            <a:r>
              <a:rPr sz="2400" spc="10" dirty="0"/>
              <a:t> </a:t>
            </a:r>
            <a:r>
              <a:rPr sz="2400" spc="-5" dirty="0"/>
              <a:t>is</a:t>
            </a:r>
            <a:r>
              <a:rPr sz="2400" spc="-30" dirty="0"/>
              <a:t> </a:t>
            </a:r>
            <a:r>
              <a:rPr sz="2400" spc="-20" dirty="0"/>
              <a:t>your</a:t>
            </a:r>
            <a:r>
              <a:rPr sz="2400" spc="75" dirty="0"/>
              <a:t> </a:t>
            </a:r>
            <a:r>
              <a:rPr sz="2400" dirty="0"/>
              <a:t>solution</a:t>
            </a:r>
            <a:r>
              <a:rPr sz="2400" spc="-45" dirty="0"/>
              <a:t> </a:t>
            </a:r>
            <a:r>
              <a:rPr sz="2400" spc="-5" dirty="0"/>
              <a:t>different/unique</a:t>
            </a:r>
            <a:r>
              <a:rPr sz="2400" spc="-10" dirty="0"/>
              <a:t> </a:t>
            </a:r>
            <a:r>
              <a:rPr sz="2400" spc="-5" dirty="0"/>
              <a:t>from</a:t>
            </a:r>
            <a:r>
              <a:rPr sz="2400" spc="5" dirty="0"/>
              <a:t> </a:t>
            </a:r>
            <a:r>
              <a:rPr sz="2400" spc="-5" dirty="0"/>
              <a:t>other</a:t>
            </a:r>
            <a:r>
              <a:rPr sz="2400" spc="-10" dirty="0"/>
              <a:t> </a:t>
            </a:r>
            <a:r>
              <a:rPr sz="2400" dirty="0"/>
              <a:t>solutions</a:t>
            </a:r>
            <a:r>
              <a:rPr sz="2400" spc="-15" dirty="0"/>
              <a:t> </a:t>
            </a:r>
            <a:r>
              <a:rPr sz="2400" dirty="0"/>
              <a:t>in</a:t>
            </a:r>
            <a:r>
              <a:rPr sz="2400" spc="-15" dirty="0"/>
              <a:t> </a:t>
            </a:r>
            <a:r>
              <a:rPr sz="2400" dirty="0"/>
              <a:t>market </a:t>
            </a:r>
            <a:r>
              <a:rPr sz="2400" spc="-650" dirty="0"/>
              <a:t> </a:t>
            </a:r>
            <a:endParaRPr sz="2400" dirty="0"/>
          </a:p>
        </p:txBody>
      </p:sp>
      <p:sp>
        <p:nvSpPr>
          <p:cNvPr id="5" name="Text Placeholder 4">
            <a:extLst>
              <a:ext uri="{FF2B5EF4-FFF2-40B4-BE49-F238E27FC236}">
                <a16:creationId xmlns:a16="http://schemas.microsoft.com/office/drawing/2014/main" id="{B949858F-7F2D-3C32-79EF-7C27BB4408D9}"/>
              </a:ext>
            </a:extLst>
          </p:cNvPr>
          <p:cNvSpPr>
            <a:spLocks noGrp="1"/>
          </p:cNvSpPr>
          <p:nvPr>
            <p:ph type="body" idx="1"/>
          </p:nvPr>
        </p:nvSpPr>
        <p:spPr>
          <a:xfrm>
            <a:off x="460044" y="1760981"/>
            <a:ext cx="11271910" cy="3272691"/>
          </a:xfrm>
        </p:spPr>
        <p:txBody>
          <a:bodyPr/>
          <a:lstStyle/>
          <a:p>
            <a:pPr algn="just">
              <a:lnSpc>
                <a:spcPct val="150000"/>
              </a:lnSpc>
            </a:pPr>
            <a:r>
              <a:rPr lang="en-IN" dirty="0">
                <a:latin typeface="Arial" panose="020B0604020202020204" pitchFamily="34" charset="0"/>
                <a:cs typeface="Arial" panose="020B0604020202020204" pitchFamily="34" charset="0"/>
              </a:rPr>
              <a:t>Sonar Sensors are currently used for fish detection in the ocean. These sensors detect the fish at various ranges and depths. In our project, we are going to send the Chemical Discharger the signal to release out the chemical when the </a:t>
            </a:r>
            <a:r>
              <a:rPr lang="en-IN" b="1" dirty="0">
                <a:latin typeface="Arial" panose="020B0604020202020204" pitchFamily="34" charset="0"/>
                <a:cs typeface="Arial" panose="020B0604020202020204" pitchFamily="34" charset="0"/>
              </a:rPr>
              <a:t>sensor captures any fish within the range of 11 metres</a:t>
            </a:r>
            <a:r>
              <a:rPr lang="en-IN" dirty="0">
                <a:latin typeface="Arial" panose="020B0604020202020204" pitchFamily="34" charset="0"/>
                <a:cs typeface="Arial" panose="020B0604020202020204" pitchFamily="34" charset="0"/>
              </a:rPr>
              <a:t>. Cephalopod Ink or Squid ink will act as the chemical which alerts the fish about the danger. It is observed that when squid ink is released around the fish , they alert danger and release a signal </a:t>
            </a:r>
            <a:r>
              <a:rPr lang="en-IN" b="1" dirty="0">
                <a:latin typeface="Arial" panose="020B0604020202020204" pitchFamily="34" charset="0"/>
                <a:cs typeface="Arial" panose="020B0604020202020204" pitchFamily="34" charset="0"/>
              </a:rPr>
              <a:t>“Disturbance Cues” </a:t>
            </a:r>
            <a:r>
              <a:rPr lang="en-IN" dirty="0">
                <a:latin typeface="Arial" panose="020B0604020202020204" pitchFamily="34" charset="0"/>
                <a:cs typeface="Arial" panose="020B0604020202020204" pitchFamily="34" charset="0"/>
              </a:rPr>
              <a:t>which alerts the other surrounding fishes. We can also </a:t>
            </a:r>
            <a:r>
              <a:rPr lang="en-IN" b="1" dirty="0">
                <a:latin typeface="Arial" panose="020B0604020202020204" pitchFamily="34" charset="0"/>
                <a:cs typeface="Arial" panose="020B0604020202020204" pitchFamily="34" charset="0"/>
              </a:rPr>
              <a:t>synthesise artificial squid ink or any other chemical to which fish response system is the same</a:t>
            </a:r>
            <a:r>
              <a:rPr lang="en-IN" dirty="0">
                <a:latin typeface="Arial" panose="020B0604020202020204" pitchFamily="34" charset="0"/>
                <a:cs typeface="Arial" panose="020B0604020202020204" pitchFamily="34" charset="0"/>
              </a:rPr>
              <a:t>. Our chemical discharger plays the vital role in our project as the chemical is stored in it which needs to be ejected out time to time.</a:t>
            </a:r>
          </a:p>
        </p:txBody>
      </p:sp>
      <p:sp>
        <p:nvSpPr>
          <p:cNvPr id="3" name="object 3"/>
          <p:cNvSpPr txBox="1"/>
          <p:nvPr/>
        </p:nvSpPr>
        <p:spPr>
          <a:xfrm>
            <a:off x="460044" y="5159747"/>
            <a:ext cx="1927732" cy="227626"/>
          </a:xfrm>
          <a:prstGeom prst="rect">
            <a:avLst/>
          </a:prstGeom>
        </p:spPr>
        <p:txBody>
          <a:bodyPr vert="horz" wrap="square" lIns="0" tIns="12065" rIns="0" bIns="0" rtlCol="0">
            <a:spAutoFit/>
          </a:bodyPr>
          <a:lstStyle/>
          <a:p>
            <a:pPr marL="182880" indent="-170815">
              <a:lnSpc>
                <a:spcPct val="100000"/>
              </a:lnSpc>
              <a:spcBef>
                <a:spcPts val="95"/>
              </a:spcBef>
              <a:buFont typeface="Arial MT"/>
              <a:buChar char="•"/>
              <a:tabLst>
                <a:tab pos="183515" algn="l"/>
              </a:tabLst>
            </a:pPr>
            <a:r>
              <a:rPr sz="1400" b="1" spc="-35" dirty="0">
                <a:latin typeface="Leelawadee UI"/>
                <a:cs typeface="Leelawadee UI"/>
              </a:rPr>
              <a:t>PATENT</a:t>
            </a:r>
            <a:r>
              <a:rPr sz="1400" b="1" spc="365" dirty="0">
                <a:latin typeface="Leelawadee UI"/>
                <a:cs typeface="Leelawadee UI"/>
              </a:rPr>
              <a:t> </a:t>
            </a:r>
            <a:r>
              <a:rPr sz="1400" b="1" spc="-5" dirty="0">
                <a:latin typeface="Leelawadee UI"/>
                <a:cs typeface="Leelawadee UI"/>
              </a:rPr>
              <a:t>FILED:</a:t>
            </a:r>
            <a:r>
              <a:rPr sz="1400" b="1" spc="-15" dirty="0">
                <a:latin typeface="Leelawadee UI"/>
                <a:cs typeface="Leelawadee UI"/>
              </a:rPr>
              <a:t> </a:t>
            </a:r>
            <a:r>
              <a:rPr sz="1400" spc="-25" dirty="0">
                <a:latin typeface="Trebuchet MS"/>
                <a:cs typeface="Trebuchet MS"/>
              </a:rPr>
              <a:t>No</a:t>
            </a:r>
            <a:endParaRPr sz="1400" dirty="0">
              <a:latin typeface="Trebuchet MS"/>
              <a:cs typeface="Trebuchet MS"/>
            </a:endParaRPr>
          </a:p>
        </p:txBody>
      </p:sp>
      <p:sp>
        <p:nvSpPr>
          <p:cNvPr id="4" name="object 4"/>
          <p:cNvSpPr txBox="1"/>
          <p:nvPr/>
        </p:nvSpPr>
        <p:spPr>
          <a:xfrm>
            <a:off x="341375" y="5474208"/>
            <a:ext cx="11283950" cy="772647"/>
          </a:xfrm>
          <a:prstGeom prst="rect">
            <a:avLst/>
          </a:prstGeom>
          <a:solidFill>
            <a:srgbClr val="A000FF"/>
          </a:solidFill>
        </p:spPr>
        <p:txBody>
          <a:bodyPr vert="horz" wrap="square" lIns="0" tIns="79375" rIns="0" bIns="0" rtlCol="0">
            <a:spAutoFit/>
          </a:bodyPr>
          <a:lstStyle/>
          <a:p>
            <a:pPr marL="90805">
              <a:lnSpc>
                <a:spcPts val="2735"/>
              </a:lnSpc>
              <a:spcBef>
                <a:spcPts val="625"/>
              </a:spcBef>
            </a:pPr>
            <a:r>
              <a:rPr sz="2400" b="1" spc="-5" dirty="0">
                <a:solidFill>
                  <a:srgbClr val="FFFFFF"/>
                </a:solidFill>
                <a:latin typeface="Arial"/>
                <a:cs typeface="Arial"/>
              </a:rPr>
              <a:t>Do</a:t>
            </a:r>
            <a:r>
              <a:rPr sz="2400" b="1" spc="-15" dirty="0">
                <a:solidFill>
                  <a:srgbClr val="FFFFFF"/>
                </a:solidFill>
                <a:latin typeface="Arial"/>
                <a:cs typeface="Arial"/>
              </a:rPr>
              <a:t> </a:t>
            </a:r>
            <a:r>
              <a:rPr sz="2400" b="1" spc="-25" dirty="0">
                <a:solidFill>
                  <a:srgbClr val="FFFFFF"/>
                </a:solidFill>
                <a:latin typeface="Arial"/>
                <a:cs typeface="Arial"/>
              </a:rPr>
              <a:t>you</a:t>
            </a:r>
            <a:r>
              <a:rPr sz="2400" b="1" spc="40" dirty="0">
                <a:solidFill>
                  <a:srgbClr val="FFFFFF"/>
                </a:solidFill>
                <a:latin typeface="Arial"/>
                <a:cs typeface="Arial"/>
              </a:rPr>
              <a:t> </a:t>
            </a:r>
            <a:r>
              <a:rPr sz="2400" b="1" spc="-10" dirty="0">
                <a:solidFill>
                  <a:srgbClr val="FFFFFF"/>
                </a:solidFill>
                <a:latin typeface="Arial"/>
                <a:cs typeface="Arial"/>
              </a:rPr>
              <a:t>have</a:t>
            </a:r>
            <a:r>
              <a:rPr sz="2400" b="1" spc="30" dirty="0">
                <a:solidFill>
                  <a:srgbClr val="FFFFFF"/>
                </a:solidFill>
                <a:latin typeface="Arial"/>
                <a:cs typeface="Arial"/>
              </a:rPr>
              <a:t> </a:t>
            </a:r>
            <a:r>
              <a:rPr sz="2400" b="1" spc="-5" dirty="0">
                <a:solidFill>
                  <a:srgbClr val="FFFFFF"/>
                </a:solidFill>
                <a:latin typeface="Arial"/>
                <a:cs typeface="Arial"/>
              </a:rPr>
              <a:t>a</a:t>
            </a:r>
            <a:r>
              <a:rPr sz="2400" b="1" spc="-20" dirty="0">
                <a:solidFill>
                  <a:srgbClr val="FFFFFF"/>
                </a:solidFill>
                <a:latin typeface="Arial"/>
                <a:cs typeface="Arial"/>
              </a:rPr>
              <a:t> </a:t>
            </a:r>
            <a:r>
              <a:rPr sz="2400" b="1" spc="5" dirty="0">
                <a:solidFill>
                  <a:srgbClr val="FFFFFF"/>
                </a:solidFill>
                <a:latin typeface="Arial"/>
                <a:cs typeface="Arial"/>
              </a:rPr>
              <a:t>working</a:t>
            </a:r>
            <a:r>
              <a:rPr sz="2400" b="1" spc="-70" dirty="0">
                <a:solidFill>
                  <a:srgbClr val="FFFFFF"/>
                </a:solidFill>
                <a:latin typeface="Arial"/>
                <a:cs typeface="Arial"/>
              </a:rPr>
              <a:t> </a:t>
            </a:r>
            <a:r>
              <a:rPr sz="2400" b="1" spc="-5" dirty="0">
                <a:solidFill>
                  <a:srgbClr val="FFFFFF"/>
                </a:solidFill>
                <a:latin typeface="Arial"/>
                <a:cs typeface="Arial"/>
              </a:rPr>
              <a:t>model/prototype:</a:t>
            </a:r>
            <a:r>
              <a:rPr sz="2400" b="1" spc="-10" dirty="0">
                <a:solidFill>
                  <a:srgbClr val="FFFFFF"/>
                </a:solidFill>
                <a:latin typeface="Arial"/>
                <a:cs typeface="Arial"/>
              </a:rPr>
              <a:t> </a:t>
            </a:r>
            <a:r>
              <a:rPr sz="2400" b="1" spc="-30" dirty="0">
                <a:solidFill>
                  <a:srgbClr val="FFFFFF"/>
                </a:solidFill>
                <a:latin typeface="Arial"/>
                <a:cs typeface="Arial"/>
              </a:rPr>
              <a:t>No</a:t>
            </a:r>
            <a:endParaRPr sz="2400" dirty="0">
              <a:latin typeface="Arial"/>
              <a:cs typeface="Arial"/>
            </a:endParaRPr>
          </a:p>
          <a:p>
            <a:pPr marL="90805">
              <a:lnSpc>
                <a:spcPts val="2735"/>
              </a:lnSpc>
            </a:pPr>
            <a:r>
              <a:rPr sz="2400" b="1" dirty="0">
                <a:solidFill>
                  <a:srgbClr val="FFFFFF"/>
                </a:solidFill>
                <a:latin typeface="Arial"/>
                <a:cs typeface="Arial"/>
              </a:rPr>
              <a:t>If </a:t>
            </a:r>
            <a:r>
              <a:rPr sz="2400" b="1" spc="-5" dirty="0">
                <a:solidFill>
                  <a:srgbClr val="FFFFFF"/>
                </a:solidFill>
                <a:latin typeface="Arial"/>
                <a:cs typeface="Arial"/>
              </a:rPr>
              <a:t>not,</a:t>
            </a:r>
            <a:r>
              <a:rPr sz="2400" b="1" spc="-20" dirty="0">
                <a:solidFill>
                  <a:srgbClr val="FFFFFF"/>
                </a:solidFill>
                <a:latin typeface="Arial"/>
                <a:cs typeface="Arial"/>
              </a:rPr>
              <a:t> </a:t>
            </a:r>
            <a:r>
              <a:rPr sz="2400" b="1" spc="10" dirty="0">
                <a:solidFill>
                  <a:srgbClr val="FFFFFF"/>
                </a:solidFill>
                <a:latin typeface="Arial"/>
                <a:cs typeface="Arial"/>
              </a:rPr>
              <a:t>will</a:t>
            </a:r>
            <a:r>
              <a:rPr sz="2400" b="1" spc="-85" dirty="0">
                <a:solidFill>
                  <a:srgbClr val="FFFFFF"/>
                </a:solidFill>
                <a:latin typeface="Arial"/>
                <a:cs typeface="Arial"/>
              </a:rPr>
              <a:t> </a:t>
            </a:r>
            <a:r>
              <a:rPr sz="2400" b="1" spc="-25" dirty="0">
                <a:solidFill>
                  <a:srgbClr val="FFFFFF"/>
                </a:solidFill>
                <a:latin typeface="Arial"/>
                <a:cs typeface="Arial"/>
              </a:rPr>
              <a:t>you</a:t>
            </a:r>
            <a:r>
              <a:rPr sz="2400" b="1" spc="40" dirty="0">
                <a:solidFill>
                  <a:srgbClr val="FFFFFF"/>
                </a:solidFill>
                <a:latin typeface="Arial"/>
                <a:cs typeface="Arial"/>
              </a:rPr>
              <a:t> </a:t>
            </a:r>
            <a:r>
              <a:rPr sz="2400" b="1" dirty="0">
                <a:solidFill>
                  <a:srgbClr val="FFFFFF"/>
                </a:solidFill>
                <a:latin typeface="Arial"/>
                <a:cs typeface="Arial"/>
              </a:rPr>
              <a:t>be</a:t>
            </a:r>
            <a:r>
              <a:rPr sz="2400" b="1" spc="-10" dirty="0">
                <a:solidFill>
                  <a:srgbClr val="FFFFFF"/>
                </a:solidFill>
                <a:latin typeface="Arial"/>
                <a:cs typeface="Arial"/>
              </a:rPr>
              <a:t> </a:t>
            </a:r>
            <a:r>
              <a:rPr sz="2400" b="1" dirty="0">
                <a:solidFill>
                  <a:srgbClr val="FFFFFF"/>
                </a:solidFill>
                <a:latin typeface="Arial"/>
                <a:cs typeface="Arial"/>
              </a:rPr>
              <a:t>able</a:t>
            </a:r>
            <a:r>
              <a:rPr sz="2400" b="1" spc="-15" dirty="0">
                <a:solidFill>
                  <a:srgbClr val="FFFFFF"/>
                </a:solidFill>
                <a:latin typeface="Arial"/>
                <a:cs typeface="Arial"/>
              </a:rPr>
              <a:t> </a:t>
            </a:r>
            <a:r>
              <a:rPr sz="2400" b="1" spc="-5" dirty="0">
                <a:solidFill>
                  <a:srgbClr val="FFFFFF"/>
                </a:solidFill>
                <a:latin typeface="Arial"/>
                <a:cs typeface="Arial"/>
              </a:rPr>
              <a:t>to</a:t>
            </a:r>
            <a:r>
              <a:rPr sz="2400" b="1" dirty="0">
                <a:solidFill>
                  <a:srgbClr val="FFFFFF"/>
                </a:solidFill>
                <a:latin typeface="Arial"/>
                <a:cs typeface="Arial"/>
              </a:rPr>
              <a:t> show</a:t>
            </a:r>
            <a:r>
              <a:rPr sz="2400" b="1" spc="-15" dirty="0">
                <a:solidFill>
                  <a:srgbClr val="FFFFFF"/>
                </a:solidFill>
                <a:latin typeface="Arial"/>
                <a:cs typeface="Arial"/>
              </a:rPr>
              <a:t> </a:t>
            </a:r>
            <a:r>
              <a:rPr sz="2400" b="1" spc="5" dirty="0">
                <a:solidFill>
                  <a:srgbClr val="FFFFFF"/>
                </a:solidFill>
                <a:latin typeface="Arial"/>
                <a:cs typeface="Arial"/>
              </a:rPr>
              <a:t>working</a:t>
            </a:r>
            <a:r>
              <a:rPr sz="2400" b="1" spc="-100" dirty="0">
                <a:solidFill>
                  <a:srgbClr val="FFFFFF"/>
                </a:solidFill>
                <a:latin typeface="Arial"/>
                <a:cs typeface="Arial"/>
              </a:rPr>
              <a:t> </a:t>
            </a:r>
            <a:r>
              <a:rPr sz="2400" b="1" spc="-10" dirty="0">
                <a:solidFill>
                  <a:srgbClr val="FFFFFF"/>
                </a:solidFill>
                <a:latin typeface="Arial"/>
                <a:cs typeface="Arial"/>
              </a:rPr>
              <a:t>prototype</a:t>
            </a:r>
            <a:r>
              <a:rPr sz="2400" b="1" spc="85" dirty="0">
                <a:solidFill>
                  <a:srgbClr val="FFFFFF"/>
                </a:solidFill>
                <a:latin typeface="Arial"/>
                <a:cs typeface="Arial"/>
              </a:rPr>
              <a:t> </a:t>
            </a:r>
            <a:r>
              <a:rPr sz="2400" b="1" spc="-5" dirty="0">
                <a:solidFill>
                  <a:srgbClr val="FFFFFF"/>
                </a:solidFill>
                <a:latin typeface="Arial"/>
                <a:cs typeface="Arial"/>
              </a:rPr>
              <a:t>during</a:t>
            </a:r>
            <a:r>
              <a:rPr sz="2400" b="1" spc="-25" dirty="0">
                <a:solidFill>
                  <a:srgbClr val="FFFFFF"/>
                </a:solidFill>
                <a:latin typeface="Arial"/>
                <a:cs typeface="Arial"/>
              </a:rPr>
              <a:t> </a:t>
            </a:r>
            <a:r>
              <a:rPr sz="2400" b="1" dirty="0">
                <a:solidFill>
                  <a:srgbClr val="FFFFFF"/>
                </a:solidFill>
                <a:latin typeface="Arial"/>
                <a:cs typeface="Arial"/>
              </a:rPr>
              <a:t>finale.</a:t>
            </a:r>
            <a:r>
              <a:rPr sz="2400" b="1" spc="-90" dirty="0">
                <a:solidFill>
                  <a:srgbClr val="FFFFFF"/>
                </a:solidFill>
                <a:latin typeface="Arial"/>
                <a:cs typeface="Arial"/>
              </a:rPr>
              <a:t> </a:t>
            </a:r>
            <a:r>
              <a:rPr sz="2400" b="1" spc="-30" dirty="0">
                <a:solidFill>
                  <a:srgbClr val="FFFFFF"/>
                </a:solidFill>
                <a:latin typeface="Arial"/>
                <a:cs typeface="Arial"/>
              </a:rPr>
              <a:t>Yes</a:t>
            </a:r>
            <a:endParaRPr sz="2400" dirty="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52400"/>
            <a:ext cx="11671300" cy="456535"/>
          </a:xfrm>
          <a:prstGeom prst="rect">
            <a:avLst/>
          </a:prstGeom>
          <a:solidFill>
            <a:srgbClr val="A000FF"/>
          </a:solidFill>
        </p:spPr>
        <p:txBody>
          <a:bodyPr vert="horz" wrap="square" lIns="0" tIns="86360" rIns="0" bIns="0" rtlCol="0">
            <a:spAutoFit/>
          </a:bodyPr>
          <a:lstStyle/>
          <a:p>
            <a:pPr marL="90805">
              <a:lnSpc>
                <a:spcPct val="100000"/>
              </a:lnSpc>
              <a:spcBef>
                <a:spcPts val="680"/>
              </a:spcBef>
            </a:pPr>
            <a:r>
              <a:rPr sz="2400" spc="-25" dirty="0"/>
              <a:t>Any</a:t>
            </a:r>
            <a:r>
              <a:rPr sz="2400" spc="50" dirty="0"/>
              <a:t> </a:t>
            </a:r>
            <a:r>
              <a:rPr sz="2400" spc="-5" dirty="0"/>
              <a:t>testimonials</a:t>
            </a:r>
            <a:r>
              <a:rPr sz="2400" spc="-40" dirty="0"/>
              <a:t> </a:t>
            </a:r>
            <a:r>
              <a:rPr sz="2400" spc="-5" dirty="0"/>
              <a:t>received?</a:t>
            </a:r>
            <a:endParaRPr sz="2400" dirty="0"/>
          </a:p>
        </p:txBody>
      </p:sp>
      <p:sp>
        <p:nvSpPr>
          <p:cNvPr id="4" name="Text Placeholder 3">
            <a:extLst>
              <a:ext uri="{FF2B5EF4-FFF2-40B4-BE49-F238E27FC236}">
                <a16:creationId xmlns:a16="http://schemas.microsoft.com/office/drawing/2014/main" id="{27444306-A182-7AB3-B198-BCC511F45E99}"/>
              </a:ext>
            </a:extLst>
          </p:cNvPr>
          <p:cNvSpPr>
            <a:spLocks noGrp="1"/>
          </p:cNvSpPr>
          <p:nvPr>
            <p:ph type="body" idx="1"/>
          </p:nvPr>
        </p:nvSpPr>
        <p:spPr>
          <a:xfrm>
            <a:off x="460044" y="1760981"/>
            <a:ext cx="11271910" cy="4431983"/>
          </a:xfrm>
        </p:spPr>
        <p:txBody>
          <a:bodyPr/>
          <a:lstStyle/>
          <a:p>
            <a:r>
              <a:rPr lang="en-IN" dirty="0">
                <a:latin typeface="Arial" panose="020B0604020202020204" pitchFamily="34" charset="0"/>
                <a:cs typeface="Arial" panose="020B0604020202020204" pitchFamily="34" charset="0"/>
              </a:rPr>
              <a:t>Our project model is under progress and will be completed before the Finals.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                  Fig. 10 Fish response to Cephalopod ink                                               Fig.11 Sonar Sensor detecting the fish</a:t>
            </a:r>
          </a:p>
          <a:p>
            <a:endParaRPr lang="en-IN" sz="1400"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58EC456-1063-2C0B-0B1B-42F8CFB878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799" y="2342955"/>
            <a:ext cx="4690373" cy="2786063"/>
          </a:xfrm>
          <a:prstGeom prst="rect">
            <a:avLst/>
          </a:prstGeom>
        </p:spPr>
      </p:pic>
      <p:pic>
        <p:nvPicPr>
          <p:cNvPr id="1026" name="Picture 2" descr="FFC-1108-1 Lucky Portable Fish Finder Sonar Wired Fishfinder 100M (328ft)  Depth Detection - Tekcoplus Ltd.">
            <a:extLst>
              <a:ext uri="{FF2B5EF4-FFF2-40B4-BE49-F238E27FC236}">
                <a16:creationId xmlns:a16="http://schemas.microsoft.com/office/drawing/2014/main" id="{2CCB3D7B-E937-FE70-AB95-36351BD84B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3540" y="2250086"/>
            <a:ext cx="3039341"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722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pic>
          <p:nvPicPr>
            <p:cNvPr id="4" name="object 4"/>
            <p:cNvPicPr/>
            <p:nvPr/>
          </p:nvPicPr>
          <p:blipFill>
            <a:blip r:embed="rId3" cstate="print"/>
            <a:stretch>
              <a:fillRect/>
            </a:stretch>
          </p:blipFill>
          <p:spPr>
            <a:xfrm>
              <a:off x="4623815" y="0"/>
              <a:ext cx="7187184" cy="6857997"/>
            </a:xfrm>
            <a:prstGeom prst="rect">
              <a:avLst/>
            </a:prstGeom>
          </p:spPr>
        </p:pic>
      </p:grpSp>
      <p:sp>
        <p:nvSpPr>
          <p:cNvPr id="5" name="object 5"/>
          <p:cNvSpPr txBox="1">
            <a:spLocks noGrp="1"/>
          </p:cNvSpPr>
          <p:nvPr>
            <p:ph type="title"/>
          </p:nvPr>
        </p:nvSpPr>
        <p:spPr>
          <a:xfrm>
            <a:off x="368300" y="2735021"/>
            <a:ext cx="4904740" cy="1123315"/>
          </a:xfrm>
          <a:prstGeom prst="rect">
            <a:avLst/>
          </a:prstGeom>
        </p:spPr>
        <p:txBody>
          <a:bodyPr vert="horz" wrap="square" lIns="0" tIns="12700" rIns="0" bIns="0" rtlCol="0">
            <a:spAutoFit/>
          </a:bodyPr>
          <a:lstStyle/>
          <a:p>
            <a:pPr marL="12700">
              <a:lnSpc>
                <a:spcPct val="100000"/>
              </a:lnSpc>
              <a:spcBef>
                <a:spcPts val="100"/>
              </a:spcBef>
            </a:pPr>
            <a:r>
              <a:rPr dirty="0"/>
              <a:t>Thank</a:t>
            </a:r>
            <a:r>
              <a:rPr spc="-90" dirty="0"/>
              <a:t> </a:t>
            </a:r>
            <a:r>
              <a:rPr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TotalTime>
  <Words>924</Words>
  <Application>Microsoft Office PowerPoint</Application>
  <PresentationFormat>Widescreen</PresentationFormat>
  <Paragraphs>96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 MT</vt:lpstr>
      <vt:lpstr>Calibri</vt:lpstr>
      <vt:lpstr>Leelawadee UI</vt:lpstr>
      <vt:lpstr>Times New Roman</vt:lpstr>
      <vt:lpstr>Trebuchet MS</vt:lpstr>
      <vt:lpstr>Office Theme</vt:lpstr>
      <vt:lpstr>PowerPoint Presentation</vt:lpstr>
      <vt:lpstr>Team details</vt:lpstr>
      <vt:lpstr>Problem Statement</vt:lpstr>
      <vt:lpstr>Proposed solution </vt:lpstr>
      <vt:lpstr>Block Diagram</vt:lpstr>
      <vt:lpstr>How does your innovation accelerate change with the power of Technology? </vt:lpstr>
      <vt:lpstr>How does your innovation accelerate change with the power of Technology? </vt:lpstr>
      <vt:lpstr>How is your solution different/unique from other solutions in market  </vt:lpstr>
      <vt:lpstr>Any testimonials received?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Marthala Bhargavi</cp:lastModifiedBy>
  <cp:revision>31</cp:revision>
  <dcterms:created xsi:type="dcterms:W3CDTF">2023-09-05T06:39:25Z</dcterms:created>
  <dcterms:modified xsi:type="dcterms:W3CDTF">2025-08-22T10:06:57Z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2023-07-27T00:00:00Z</vt:filetime>
  </property>
  <property fmtid="{D5CDD505-2E9C-101B-9397-08002B2CF9AE}" pid="3" name="Creator">
    <vt:lpwstr>Microsoft® PowerPoint® 2016</vt:lpwstr>
  </property>
  <property fmtid="{D5CDD505-2E9C-101B-9397-08002B2CF9AE}" pid="4" name="LastSaved">
    <vt:filetime>2023-09-05T00:00:00Z</vt:filetime>
  </property>
</Properties>
</file>